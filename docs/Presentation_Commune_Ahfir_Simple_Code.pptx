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457200"/>
            <a:ext cx="4297680" cy="777240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09760" y="3931920"/>
            <a:ext cx="2926080" cy="3108960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6D28D9"/>
                </a:solidFill>
                <a:latin typeface="Aptos"/>
              </a:rPr>
              <a:t>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Commune d'Ahfir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43891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BFDBFE"/>
                </a:solidFill>
                <a:latin typeface="Aptos"/>
              </a:rPr>
              <a:t>Pr?sentation simple et expliqu?e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66928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Projet de gestion
des r?clamations
Commune d?Ahfir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5486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E2E8F0"/>
                </a:solidFill>
                <a:latin typeface="Aptos"/>
              </a:rPr>
              <a:t>Explication des missions, du fonctionnement, des interfaces et des codes importants utilis?s dans Laravel.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822960" cy="274320"/>
          </a:xfrm>
          <a:prstGeom prst="roundRect">
            <a:avLst/>
          </a:prstGeom>
          <a:solidFill>
            <a:srgbClr val="F5F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69764"/>
            <a:ext cx="7315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6D28D9"/>
                </a:solidFill>
                <a:latin typeface="Aptos"/>
              </a:rPr>
              <a:t>Laravel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10512" y="4892040"/>
            <a:ext cx="822960" cy="274320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56231" y="4969764"/>
            <a:ext cx="7315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10B981"/>
                </a:solidFill>
                <a:latin typeface="Aptos"/>
              </a:rPr>
              <a:t>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9504" y="4892040"/>
            <a:ext cx="822960" cy="274320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4969764"/>
            <a:ext cx="7315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2563EB"/>
                </a:solidFill>
                <a:latin typeface="Aptos"/>
              </a:rPr>
              <a:t>Blade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68496" y="4892040"/>
            <a:ext cx="822960" cy="274320"/>
          </a:xfrm>
          <a:prstGeom prst="roundRect">
            <a:avLst/>
          </a:prstGeom>
          <a:solidFill>
            <a:srgbClr val="FDF2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14215" y="4969764"/>
            <a:ext cx="73152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DB2777"/>
                </a:solidFill>
                <a:latin typeface="Aptos"/>
              </a:rPr>
              <a:t>Bootstrap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08192"/>
            <a:ext cx="50292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CBD5E1"/>
                </a:solidFill>
                <a:latin typeface="Aptos"/>
              </a:rPr>
              <a:t>Version p?dagogique - courte, claire et professionnelle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1. Mission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? quoi sert l?application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31720"/>
            <a:ext cx="5486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64748B"/>
                </a:solidFill>
                <a:latin typeface="Aptos"/>
              </a:rPr>
              <a:t>L?application permet aux citoyens de d?poser des r?clamations en ligne, et ? la commune de les traiter avec un suivi clair.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01568"/>
            <a:ext cx="3017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1832" y="3602736"/>
            <a:ext cx="329184" cy="329184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9032" y="3584448"/>
            <a:ext cx="2240279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Pour le citoyen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114800"/>
            <a:ext cx="2615184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Cr?er un compte, d?poser une plainte et suivre son ?tat.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401568"/>
            <a:ext cx="3017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33672" y="3602736"/>
            <a:ext cx="329184" cy="329184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3584448"/>
            <a:ext cx="2240279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Pour l?employ?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4114800"/>
            <a:ext cx="2615184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Consulter les dossiers, changer le statut et ajouter un suivi.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3401568"/>
            <a:ext cx="3017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25512" y="3602736"/>
            <a:ext cx="329184" cy="32918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3584448"/>
            <a:ext cx="2240279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Pour l?admin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4114800"/>
            <a:ext cx="2615184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G?rer les services, les utilisateurs et exporter les rapports.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024128"/>
            <a:ext cx="4160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19" y="1115568"/>
            <a:ext cx="3977639" cy="15727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35240" y="2761488"/>
            <a:ext cx="388620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Tableau de bord du projet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2. Les t?ches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R?sum? simple des fonctionnalit?s r?alis?es.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Authentification : connexion, inscription, d?connexion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Gestion des r?les : Administrateur, Employ?, Citoyen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D?p?t et suivi des r?clamations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Attribution aux services communaux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Historique des actions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Notifications citoyennes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Filtres, statistiques, PDF et Excel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Application multilingue : FR / EN / AR + RTL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949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l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59" y="2240280"/>
            <a:ext cx="5212080" cy="31729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486400"/>
            <a:ext cx="51206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Liste des r?clamations avec recherche et filtres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3. Comment fonctionne le projet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Le cycle de vie d?une r?clamation.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1874519" cy="123444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715768"/>
            <a:ext cx="34747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063240"/>
            <a:ext cx="153619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Le citoyen remplit le formulaire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2907792"/>
            <a:ext cx="22860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6D28D9"/>
                </a:solidFill>
                <a:latin typeface="Aptos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514600"/>
            <a:ext cx="1874519" cy="123444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715768"/>
            <a:ext cx="34747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063240"/>
            <a:ext cx="153619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Laravel valide les donn?es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2907792"/>
            <a:ext cx="22860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6D28D9"/>
                </a:solidFill>
                <a:latin typeface="Aptos"/>
              </a:rPr>
              <a:t>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2514600"/>
            <a:ext cx="1874519" cy="123444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2715768"/>
            <a:ext cx="34747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063240"/>
            <a:ext cx="153619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La r?clamation est enregistr?e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2907792"/>
            <a:ext cx="22860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6D28D9"/>
                </a:solidFill>
                <a:latin typeface="Aptos"/>
              </a:rPr>
              <a:t>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514600"/>
            <a:ext cx="1874519" cy="1234440"/>
          </a:xfrm>
          <a:prstGeom prst="roundRect">
            <a:avLst/>
          </a:prstGeom>
          <a:solidFill>
            <a:srgbClr val="EA580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7" y="2715768"/>
            <a:ext cx="34747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3063240"/>
            <a:ext cx="153619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Un historique est cr??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907792"/>
            <a:ext cx="22860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6D28D9"/>
                </a:solidFill>
                <a:latin typeface="Aptos"/>
              </a:rPr>
              <a:t>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2514600"/>
            <a:ext cx="1874519" cy="1234440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3807" y="2715768"/>
            <a:ext cx="34747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8672" y="3063240"/>
            <a:ext cx="153619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Le citoyen re?oit une notification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572000"/>
            <a:ext cx="50749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omplain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663440"/>
            <a:ext cx="4892040" cy="10058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51560" y="5742432"/>
            <a:ext cx="480060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Formulaire de d?p?t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572000"/>
            <a:ext cx="47548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663440"/>
            <a:ext cx="4572000" cy="10058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37960" y="5742432"/>
            <a:ext cx="448056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Notifications envoy?es au citoyen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4. Code important : les 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Les routes d?finissent les liens de l?application.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715000" cy="37033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52578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routes/web.php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52578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E2E8F0"/>
                </a:solidFill>
                <a:latin typeface="Consolas"/>
              </a:rPr>
              <a:t>Route::middleware('guest')-&gt;group(function () {
    Route::get('/connexion', [AuthController::class, 'showLogin']);
    Route::post('/connexion', [AuthController::class, 'login']);
});
Route::middleware('auth')-&gt;group(function () {
    Route::get('/dashboard', DashboardController::class);
    Route::resource('complaints', ComplaintController::class);
});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4343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guest : pages accessibles sans connexion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auth : pages prot?g?es apr?s connexion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Route::resource cr?e automatiquement les routes CRUD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ComplaintController g?re toutes les actions des r?clamations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5. Code important : authentification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Connexion et cr?ation de compte citoyen.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715000" cy="37033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52578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AuthController@login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52578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E2E8F0"/>
                </a:solidFill>
                <a:latin typeface="Consolas"/>
              </a:rPr>
              <a:t>$credentials = $request-&gt;validate([
    'email' =&gt; ['required', 'email'],
    'password' =&gt; ['required'],
]);
if (! Auth::attempt($credentials)) {
    return back()-&gt;withErrors([...]);
}
$request-&gt;session()-&gt;regenerate();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4343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Laravel v?rifie l?e-mail et le mot de passe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Auth::attempt connecte l?utilisateur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session()-&gt;regenerate prot?ge contre les attaques de session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? l?inscription, le compte citoyen est cr?? automatiquement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6. Code important : base de donn?es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 table complaints stocke les r?clamations.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715000" cy="37033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52578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migration complaints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52578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E2E8F0"/>
                </a:solidFill>
                <a:latin typeface="Consolas"/>
              </a:rPr>
              <a:t>Schema::create('complaints', function (Blueprint $table) {
    $table-&gt;id();
    $table-&gt;string('reference')-&gt;unique();
    $table-&gt;foreignId('citizen_id')-&gt;constrained();
    $table-&gt;string('subject');
    $table-&gt;text('description');
    $table-&gt;enum('status', ['new','processing','resolved','rejected']);
    $table-&gt;timestamps();
});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4343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reference : num?ro unique de la r?clamation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citizen_id : relie la r?clamation au citoyen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status : ?tat du traitement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timestamps : dates de cr?ation et modification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foreignId : relation entre les 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7. Code important : mod?le Eloquent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Le mod?le Complaint relie les donn?es entre elles.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715000" cy="37033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52578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app/Models/Complaint.php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52578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E2E8F0"/>
                </a:solidFill>
                <a:latin typeface="Consolas"/>
              </a:rPr>
              <a:t>class Complaint extends Model
{
    public const STATUSES = ['new','processing','resolved','rejected'];
    public function citizen() {
        return $this-&gt;belongsTo(Citizen::class);
    }
    public function histories() {
        return $this-&gt;hasMany(ComplaintHistory::class)-&gt;latest();
    }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4343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Eloquent simplifie l?acc?s ? la base de donn?es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belongsTo : une r?clamation appartient ? un citoyen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hasMany : une r?clamation poss?de plusieurs historiques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STATUSES ?vite d??crire des statuts incorrects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8. Code important : cr?ation d?une r?clamation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 m?thode store() est le c?ur du d?p?t.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715000" cy="37033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52578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ComplaintController@store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52578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E2E8F0"/>
                </a:solidFill>
                <a:latin typeface="Consolas"/>
              </a:rPr>
              <a:t>$data = $this-&gt;validated($request);
$data['reference'] = 'REC-'.now()-&gt;format('Ym').'-'.Str::upper(Str::random(6));
$complaint = Complaint::create($data);
$this-&gt;history($complaint, 'created', null, 'new', ...);
$this-&gt;notify($complaint, 'R?clamation enregistr?e', ...);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4343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Validation des champs du formulaire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Cr?ation automatique d?une r?f?rence unique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Enregistrement avec Complaint::create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Ajout d?une ligne dans l?historique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Cr?ation d?une notification pour le citoyen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9. Code important : recherche et filtres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 m?thode filteredQuery() permet de chercher rapidement.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715000" cy="37033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52578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ComplaintController@filteredQuery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52578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E2E8F0"/>
                </a:solidFill>
                <a:latin typeface="Consolas"/>
              </a:rPr>
              <a:t>$query = Complaint::with(['citizen','category','service'])-&gt;latest();
$query-&gt;when($request-&gt;filled('status'), fn ($q) =&gt;
    $q-&gt;where('status', $request-&gt;input('status'))
);
$query-&gt;when($request-&gt;filled('search'), fn ($q) =&gt;
    $q-&gt;where('reference', 'like', '%'.$request-&gt;search.'%')
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4343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with() charge les relations n?cessaires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when() applique le filtre seulement si le champ existe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where() cherche par statut, cat?gorie, service ou texte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paginate() affiche les r?sultats page par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5074920"/>
            <a:ext cx="4023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mpl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79" y="5166359"/>
            <a:ext cx="3840480" cy="475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0" y="5715000"/>
            <a:ext cx="3749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Filtres dans l?interface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10. Code important : traitement et suivi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Lorsqu?un employ? traite un dossier, le syst?me garde la trace.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715000" cy="37033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52578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ComplaintController@update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52578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E2E8F0"/>
                </a:solidFill>
                <a:latin typeface="Consolas"/>
              </a:rPr>
              <a:t>$oldStatus = $complaint-&gt;status;
$complaint-&gt;update($data);
$action = $oldStatus !== $complaint-&gt;status
    ? 'status_changed'
    : 'updated';
$this-&gt;history($complaint, $action, $oldStatus, $complaint-&gt;status, ...);
if ($oldStatus !== $complaint-&gt;status) {
    $this-&gt;notify($complaint, ...);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4343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L?ancien statut est sauvegard?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La r?clamation est mise ? jour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L?action est enregistr?e dans complaint_histories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Une notification est envoy?e si le statut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5074920"/>
            <a:ext cx="4023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mplai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79" y="5166359"/>
            <a:ext cx="3840480" cy="475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0" y="5715000"/>
            <a:ext cx="3749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Historique dans le d?tail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11. Tableau de bord et rapports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Statistiques et exportation des donn?es.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715000" cy="37033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52578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DashboardController + ReportController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52578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E2E8F0"/>
                </a:solidFill>
                <a:latin typeface="Consolas"/>
              </a:rPr>
              <a:t>$statusCounts = Complaint::selectRaw('status, count(*) as total')
    -&gt;groupBy('status')
    -&gt;pluck('total', 'status');
return Pdf::loadView('complaints.report', compact('complaints'))
    -&gt;download('reclamations.pdf');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4343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Le tableau de bord compte les r?clamations par statut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Chart.js affiche les graphiques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Dompdf g?n?re les rapports PDF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Excel est export? via une vue HTML compatible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5074920"/>
            <a:ext cx="4023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79" y="5166359"/>
            <a:ext cx="3840480" cy="475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0" y="5715000"/>
            <a:ext cx="3749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Statistiques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12. Code important : vues Blade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Blade affiche les pages HTML avec les donn?es Laravel.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715000" cy="37033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52578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resources/views/complaints/index.blade.php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52578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E2E8F0"/>
                </a:solidFill>
                <a:latin typeface="Consolas"/>
              </a:rPr>
              <a:t>@foreach($complaints as $complaint)
&lt;tr&gt;
  &lt;td&gt;{{ $complaint-&gt;reference }}&lt;/td&gt;
  &lt;td&gt;{{ $complaint-&gt;subject }}&lt;/td&gt;
  &lt;td&gt;{{ __('complaints.status.'.$complaint-&gt;status) }}&lt;/td&gt;
&lt;/tr&gt;
@endforeach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4343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@foreach affiche une liste de r?clamations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{{ }} prot?ge et affiche les valeurs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__() r?cup?re les traductions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Bootstrap organise le design responsive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5074920"/>
            <a:ext cx="4023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mplain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79" y="5166359"/>
            <a:ext cx="3840480" cy="475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0" y="5715000"/>
            <a:ext cx="3749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Page Blade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13. S?curit? et multilingue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Deux points importants pour un projet professionnel.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402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" y="2441448"/>
            <a:ext cx="329184" cy="329184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2423160"/>
            <a:ext cx="2606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S?curit?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953512"/>
            <a:ext cx="2980944" cy="1417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Authentification Laravel, protection CSRF, validation des formulaires, mots de passe hash?s et middleware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2402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9431" y="2441448"/>
            <a:ext cx="329184" cy="329184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2423160"/>
            <a:ext cx="2606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R?les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2953512"/>
            <a:ext cx="2980944" cy="1417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Administrateur, Employ? et Citoyen. Chaque r?le a ses propres acc?s.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2402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7031" y="2441448"/>
            <a:ext cx="329184" cy="329184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4232" y="2423160"/>
            <a:ext cx="2606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Langues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953512"/>
            <a:ext cx="2980944" cy="1417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Fran?ais, anglais, arabe avec prise en charge RTL pour l?interface arabe.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4892040"/>
            <a:ext cx="8412480" cy="100584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5056631"/>
            <a:ext cx="7955279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RoleMiddleware + changement de langue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394959"/>
            <a:ext cx="79552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E2E8F0"/>
                </a:solidFill>
                <a:latin typeface="Consolas"/>
              </a:rPr>
              <a:t>abort_unless($request-&gt;user() &amp;&amp; in_array($request-&gt;user()-&gt;role, $roles), 403);
session(['locale' =&gt; $locale]);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E293B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8686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E293B"/>
                </a:solidFill>
                <a:latin typeface="Aptos"/>
              </a:rPr>
              <a:t>14. Comment d?velopper le projet plus tard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Id?es simples pour am?liorer l?application.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592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Projet Laravel - Gestion des r?clamations 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40280"/>
            <a:ext cx="3291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" y="2441448"/>
            <a:ext cx="329184" cy="32918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2423160"/>
            <a:ext cx="2514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Pi?ces jointes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953512"/>
            <a:ext cx="2889504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Ajouter photos ou documents.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240280"/>
            <a:ext cx="3291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07992" y="2441448"/>
            <a:ext cx="329184" cy="329184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2423160"/>
            <a:ext cx="2514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E-mail / SMS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953512"/>
            <a:ext cx="2889504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Notifier aussi par e-mail ou SMS.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2240280"/>
            <a:ext cx="3291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4152" y="2441448"/>
            <a:ext cx="329184" cy="329184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2423160"/>
            <a:ext cx="2514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Carte g?ographique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2953512"/>
            <a:ext cx="2889504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Afficher les r?clamations sur une carte.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389120"/>
            <a:ext cx="3291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" y="4590288"/>
            <a:ext cx="329184" cy="329184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9032" y="4572000"/>
            <a:ext cx="2514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Application mobile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102352"/>
            <a:ext cx="2889504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Cr?er une version mobile.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389120"/>
            <a:ext cx="3291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07992" y="4590288"/>
            <a:ext cx="329184" cy="329184"/>
          </a:xfrm>
          <a:prstGeom prst="roundRect">
            <a:avLst/>
          </a:prstGeom>
          <a:solidFill>
            <a:srgbClr val="EA580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65192" y="4572000"/>
            <a:ext cx="2514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SLA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102352"/>
            <a:ext cx="2889504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D?finir des d?lais maximum.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4389120"/>
            <a:ext cx="3291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74152" y="4590288"/>
            <a:ext cx="329184" cy="32918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4572000"/>
            <a:ext cx="2514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Statistiques avanc?es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0728" y="5102352"/>
            <a:ext cx="2889504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Rapports mensuels et indicateurs.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365760"/>
            <a:ext cx="4389120" cy="7498079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731520" y="4937760"/>
            <a:ext cx="3474720" cy="2560320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502920" cy="5029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66344"/>
            <a:ext cx="5029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6D28D9"/>
                </a:solidFill>
                <a:latin typeface="Aptos"/>
              </a:rPr>
              <a:t>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Commune d'Ahfir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5603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BFDBFE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740664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Un projet simple ? expliquer,
mais complet dans son fonctionnement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685800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E2E8F0"/>
                </a:solidFill>
                <a:latin typeface="Aptos"/>
              </a:rPr>
              <a:t>L?application g?re tout le parcours d?une r?clamation : d?p?t, validation, traitement, historique, notification, statistiques et rapports.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68580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CBD5E1"/>
                </a:solidFill>
                <a:latin typeface="Aptos"/>
              </a:rPr>
              <a:t>Les codes importants sont organis?s selon Laravel MVC : routes, controllers, models, migrations et views Blade.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349240"/>
            <a:ext cx="868680" cy="274320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426964"/>
            <a:ext cx="77724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2563EB"/>
                </a:solidFill>
                <a:latin typeface="Aptos"/>
              </a:rPr>
              <a:t>Simple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5349240"/>
            <a:ext cx="868680" cy="274320"/>
          </a:xfrm>
          <a:prstGeom prst="roundRect">
            <a:avLst/>
          </a:prstGeom>
          <a:solidFill>
            <a:srgbClr val="F5F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5426964"/>
            <a:ext cx="77724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6D28D9"/>
                </a:solidFill>
                <a:latin typeface="Aptos"/>
              </a:rPr>
              <a:t>Clair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5349240"/>
            <a:ext cx="868680" cy="274320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5426964"/>
            <a:ext cx="77724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10B981"/>
                </a:solidFill>
                <a:latin typeface="Aptos"/>
              </a:rPr>
              <a:t>Complet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5349240"/>
            <a:ext cx="868680" cy="274320"/>
          </a:xfrm>
          <a:prstGeom prst="roundRect">
            <a:avLst/>
          </a:prstGeom>
          <a:solidFill>
            <a:srgbClr val="FDF2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5426964"/>
            <a:ext cx="777240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DB2777"/>
                </a:solidFill>
                <a:latin typeface="Aptos"/>
              </a:rPr>
              <a:t>?volutif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17920"/>
            <a:ext cx="53035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CBD5E1"/>
                </a:solidFill>
                <a:latin typeface="Aptos"/>
              </a:rPr>
              <a:t>Commune d'Ahfir - Gestion des r?clamations citoyennes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