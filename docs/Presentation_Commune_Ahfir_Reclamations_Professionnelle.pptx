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55279" y="-914400"/>
            <a:ext cx="5029200" cy="5029200"/>
          </a:xfrm>
          <a:prstGeom prst="ellipse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3657600"/>
            <a:ext cx="4114800" cy="4114800"/>
          </a:xfrm>
          <a:prstGeom prst="ellipse">
            <a:avLst/>
          </a:prstGeom>
          <a:solidFill>
            <a:srgbClr val="EC48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5029200"/>
            <a:ext cx="3383280" cy="3383280"/>
          </a:xfrm>
          <a:prstGeom prst="ellipse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658368"/>
            <a:ext cx="530352" cy="530352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777240"/>
            <a:ext cx="53035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Aptos"/>
              </a:rPr>
              <a:t>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9032" y="795528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Commune d'Ahfir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47548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C4B5FD"/>
                </a:solidFill>
                <a:latin typeface="Aptos"/>
              </a:rPr>
              <a:t>Pr?sentation professionnelle du projet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847088"/>
            <a:ext cx="640080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800" b="1">
                <a:solidFill>
                  <a:srgbClr val="FFFFFF"/>
                </a:solidFill>
                <a:latin typeface="Aptos"/>
              </a:rPr>
              <a:t>Portail de gestion
des r?clamations
citoyennes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03320"/>
            <a:ext cx="30175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E2E8F0"/>
                </a:solidFill>
                <a:latin typeface="Aptos"/>
              </a:rPr>
              <a:t>Commune d'Ahfir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096512"/>
            <a:ext cx="56692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CBD5E1"/>
                </a:solidFill>
                <a:latin typeface="Aptos"/>
              </a:rPr>
              <a:t>Application web Laravel pour un traitement transparent, rapide et mesurable des plaintes citoyennes.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910328"/>
            <a:ext cx="1042415" cy="292608"/>
          </a:xfrm>
          <a:prstGeom prst="roundRect">
            <a:avLst/>
          </a:prstGeom>
          <a:solidFill>
            <a:srgbClr val="F5F3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4988052"/>
            <a:ext cx="950975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70" b="1">
                <a:solidFill>
                  <a:srgbClr val="7C3AED"/>
                </a:solidFill>
                <a:latin typeface="Aptos"/>
              </a:rPr>
              <a:t>Laravel 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75688" y="4910328"/>
            <a:ext cx="1042415" cy="292608"/>
          </a:xfrm>
          <a:prstGeom prst="roundRect">
            <a:avLst/>
          </a:prstGeom>
          <a:solidFill>
            <a:srgbClr val="FDF2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21408" y="4988052"/>
            <a:ext cx="950975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70" b="1">
                <a:solidFill>
                  <a:srgbClr val="EC4899"/>
                </a:solidFill>
                <a:latin typeface="Aptos"/>
              </a:rPr>
              <a:t>MySQL / XAMPP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4910328"/>
            <a:ext cx="1042415" cy="292608"/>
          </a:xfrm>
          <a:prstGeom prst="roundRect">
            <a:avLst/>
          </a:prstGeom>
          <a:solidFill>
            <a:srgbClr val="EFF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7287" y="4988052"/>
            <a:ext cx="950975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70" b="1">
                <a:solidFill>
                  <a:srgbClr val="0EA5E9"/>
                </a:solidFill>
                <a:latin typeface="Aptos"/>
              </a:rPr>
              <a:t>Bootstrap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27448" y="4910328"/>
            <a:ext cx="1042415" cy="292608"/>
          </a:xfrm>
          <a:prstGeom prst="roundRect">
            <a:avLst/>
          </a:prstGeom>
          <a:solidFill>
            <a:srgbClr val="ECFD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4988052"/>
            <a:ext cx="950975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70" b="1">
                <a:solidFill>
                  <a:srgbClr val="10B981"/>
                </a:solidFill>
                <a:latin typeface="Aptos"/>
              </a:rPr>
              <a:t>MVC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806440"/>
            <a:ext cx="493776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989320"/>
            <a:ext cx="4480560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50" b="1">
                <a:solidFill>
                  <a:srgbClr val="E2E8F0"/>
                </a:solidFill>
                <a:latin typeface="Aptos"/>
              </a:rPr>
              <a:t>Dossier synth?tique ? Soutenance / Documentation officielle ?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84048"/>
            <a:ext cx="530352" cy="530352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53035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521207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92140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B6780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6949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700" b="1">
                <a:solidFill>
                  <a:srgbClr val="192140"/>
                </a:solidFill>
                <a:latin typeface="Aptos"/>
              </a:rPr>
              <a:t>Plan de la pr?sentation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73352"/>
            <a:ext cx="74066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5B6780"/>
                </a:solidFill>
                <a:latin typeface="Aptos"/>
              </a:rPr>
              <a:t>Une lecture rapide du besoin, de la solution et de sa valeur technique.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148840"/>
            <a:ext cx="777240" cy="50292"/>
          </a:xfrm>
          <a:prstGeom prst="roundRect">
            <a:avLst/>
          </a:prstGeom>
          <a:solidFill>
            <a:srgbClr val="EC48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2148840"/>
            <a:ext cx="777240" cy="50292"/>
          </a:xfrm>
          <a:prstGeom prst="roundRect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94A3B8"/>
                </a:solidFill>
                <a:latin typeface="Aptos"/>
              </a:rPr>
              <a:t>Portail de gestion des r?clamations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94A3B8"/>
                </a:solidFill>
                <a:latin typeface="Aptos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468880"/>
            <a:ext cx="315468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1832" y="2633472"/>
            <a:ext cx="457200" cy="457200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798064"/>
            <a:ext cx="45720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3624" y="2734056"/>
            <a:ext cx="20574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1">
                <a:solidFill>
                  <a:srgbClr val="192140"/>
                </a:solidFill>
                <a:latin typeface="Aptos"/>
              </a:rPr>
              <a:t>Contexte &amp; objectifs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2468880"/>
            <a:ext cx="315468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45151" y="2633472"/>
            <a:ext cx="457200" cy="457200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1" y="2798064"/>
            <a:ext cx="45720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2734056"/>
            <a:ext cx="20574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1">
                <a:solidFill>
                  <a:srgbClr val="192140"/>
                </a:solidFill>
                <a:latin typeface="Aptos"/>
              </a:rPr>
              <a:t>Fonctionnalit?s cl?s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2468880"/>
            <a:ext cx="315468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48471" y="2633472"/>
            <a:ext cx="457200" cy="457200"/>
          </a:xfrm>
          <a:prstGeom prst="roundRect">
            <a:avLst/>
          </a:prstGeom>
          <a:solidFill>
            <a:srgbClr val="EC48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1" y="2798064"/>
            <a:ext cx="45720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0263" y="2734056"/>
            <a:ext cx="20574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1">
                <a:solidFill>
                  <a:srgbClr val="192140"/>
                </a:solidFill>
                <a:latin typeface="Aptos"/>
              </a:rPr>
              <a:t>Parcours utilisateur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794760"/>
            <a:ext cx="315468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" y="3959352"/>
            <a:ext cx="457200" cy="45720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4123944"/>
            <a:ext cx="45720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63624" y="4059936"/>
            <a:ext cx="20574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1">
                <a:solidFill>
                  <a:srgbClr val="192140"/>
                </a:solidFill>
                <a:latin typeface="Aptos"/>
              </a:rPr>
              <a:t>Architecture &amp; code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59" y="3794760"/>
            <a:ext cx="315468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45151" y="3959352"/>
            <a:ext cx="457200" cy="457200"/>
          </a:xfrm>
          <a:prstGeom prst="roundRect">
            <a:avLst/>
          </a:prstGeom>
          <a:solidFill>
            <a:srgbClr val="F59E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1" y="4123944"/>
            <a:ext cx="45720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66944" y="4059936"/>
            <a:ext cx="20574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1">
                <a:solidFill>
                  <a:srgbClr val="192140"/>
                </a:solidFill>
                <a:latin typeface="Aptos"/>
              </a:rPr>
              <a:t>Interface &amp; captures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3794760"/>
            <a:ext cx="315468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48471" y="3959352"/>
            <a:ext cx="457200" cy="457200"/>
          </a:xfrm>
          <a:prstGeom prst="roundRect">
            <a:avLst/>
          </a:prstGeom>
          <a:solidFill>
            <a:srgbClr val="F43F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48471" y="4123944"/>
            <a:ext cx="45720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0263" y="4059936"/>
            <a:ext cx="20574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1">
                <a:solidFill>
                  <a:srgbClr val="192140"/>
                </a:solidFill>
                <a:latin typeface="Aptos"/>
              </a:rPr>
              <a:t>?volutions futures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84048"/>
            <a:ext cx="530352" cy="530352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53035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521207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92140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B6780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6949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700" b="1">
                <a:solidFill>
                  <a:srgbClr val="192140"/>
                </a:solidFill>
                <a:latin typeface="Aptos"/>
              </a:rPr>
              <a:t>Contexte du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73352"/>
            <a:ext cx="74066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5B6780"/>
                </a:solidFill>
                <a:latin typeface="Aptos"/>
              </a:rPr>
              <a:t>Moderniser la relation entre la commune et ses citoyens.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148840"/>
            <a:ext cx="777240" cy="50292"/>
          </a:xfrm>
          <a:prstGeom prst="roundRect">
            <a:avLst/>
          </a:prstGeom>
          <a:solidFill>
            <a:srgbClr val="EC48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2148840"/>
            <a:ext cx="777240" cy="50292"/>
          </a:xfrm>
          <a:prstGeom prst="roundRect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94A3B8"/>
                </a:solidFill>
                <a:latin typeface="Aptos"/>
              </a:rPr>
              <a:t>Portail de gestion des r?clamations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94A3B8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31720"/>
            <a:ext cx="56692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0">
                <a:solidFill>
                  <a:srgbClr val="5B6780"/>
                </a:solidFill>
                <a:latin typeface="Aptos"/>
              </a:rPr>
              <a:t>La Commune d'Ahfir a besoin d?un canal num?rique clair pour recevoir, organiser, traiter et mesurer les r?clamations.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10128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538728"/>
            <a:ext cx="438912" cy="438912"/>
          </a:xfrm>
          <a:prstGeom prst="roundRect">
            <a:avLst/>
          </a:prstGeom>
          <a:solidFill>
            <a:srgbClr val="FDF2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30168"/>
            <a:ext cx="438912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EC4899"/>
                </a:solidFill>
                <a:latin typeface="Aptos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3511296"/>
            <a:ext cx="23317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92140"/>
                </a:solidFill>
                <a:latin typeface="Aptos"/>
              </a:rPr>
              <a:t>Situation initiale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151376"/>
            <a:ext cx="27889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80" b="0">
                <a:solidFill>
                  <a:srgbClr val="5B6780"/>
                </a:solidFill>
                <a:latin typeface="Aptos"/>
              </a:rPr>
              <a:t>Suivi dispers?, manque de visibilit? et difficult? ? mesurer la performance.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4528" y="3310128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53128" y="3538728"/>
            <a:ext cx="438912" cy="438912"/>
          </a:xfrm>
          <a:prstGeom prst="roundRect">
            <a:avLst/>
          </a:prstGeom>
          <a:solidFill>
            <a:srgbClr val="F5F3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3630168"/>
            <a:ext cx="438912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ptos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511296"/>
            <a:ext cx="23317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92140"/>
                </a:solidFill>
                <a:latin typeface="Aptos"/>
              </a:rPr>
              <a:t>Solution digitale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151376"/>
            <a:ext cx="27889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80" b="0">
                <a:solidFill>
                  <a:srgbClr val="5B6780"/>
                </a:solidFill>
                <a:latin typeface="Aptos"/>
              </a:rPr>
              <a:t>Un portail centralis?, s?curis?, multilingue et tra?able.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54112" y="3310128"/>
            <a:ext cx="32918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82712" y="3538728"/>
            <a:ext cx="438912" cy="438912"/>
          </a:xfrm>
          <a:prstGeom prst="roundRect">
            <a:avLst/>
          </a:prstGeom>
          <a:solidFill>
            <a:srgbClr val="ECFD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2" y="3630168"/>
            <a:ext cx="438912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ptos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8784" y="3511296"/>
            <a:ext cx="23317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92140"/>
                </a:solidFill>
                <a:latin typeface="Aptos"/>
              </a:rPr>
              <a:t>R?sultat attendu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0144" y="4151376"/>
            <a:ext cx="278892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80" b="0">
                <a:solidFill>
                  <a:srgbClr val="5B6780"/>
                </a:solidFill>
                <a:latin typeface="Aptos"/>
              </a:rPr>
              <a:t>Des d?cisions plus rapides et une meilleure confiance citoyenne.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1051560"/>
            <a:ext cx="41605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07" y="1161288"/>
            <a:ext cx="3941063" cy="146303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662671" y="2706624"/>
            <a:ext cx="3831335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5B6780"/>
                </a:solidFill>
                <a:latin typeface="Aptos"/>
              </a:rPr>
              <a:t>Dashboard r?el du portail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84048"/>
            <a:ext cx="530352" cy="530352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53035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521207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92140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B6780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6949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700" b="1">
                <a:solidFill>
                  <a:srgbClr val="192140"/>
                </a:solidFill>
                <a:latin typeface="Aptos"/>
              </a:rPr>
              <a:t>Objectifs du syst?me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73352"/>
            <a:ext cx="74066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5B6780"/>
                </a:solidFill>
                <a:latin typeface="Aptos"/>
              </a:rPr>
              <a:t>Transformer chaque r?clamation en dossier suivi et mesurable.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148840"/>
            <a:ext cx="777240" cy="50292"/>
          </a:xfrm>
          <a:prstGeom prst="roundRect">
            <a:avLst/>
          </a:prstGeom>
          <a:solidFill>
            <a:srgbClr val="EC48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2148840"/>
            <a:ext cx="777240" cy="50292"/>
          </a:xfrm>
          <a:prstGeom prst="roundRect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94A3B8"/>
                </a:solidFill>
                <a:latin typeface="Aptos"/>
              </a:rPr>
              <a:t>Portail de gestion des r?clamations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94A3B8"/>
                </a:solidFill>
                <a:latin typeface="Aptos"/>
              </a:rPr>
              <a:t>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331720"/>
            <a:ext cx="2331720" cy="1234440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06040"/>
            <a:ext cx="233172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F1F5F9"/>
                </a:solidFill>
                <a:latin typeface="Aptos"/>
              </a:rPr>
              <a:t>tra?abilit?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2331720"/>
            <a:ext cx="2331720" cy="1234440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606040"/>
            <a:ext cx="233172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063240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F1F5F9"/>
                </a:solidFill>
                <a:latin typeface="Aptos"/>
              </a:rPr>
              <a:t>statuts m?tier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9" y="2331720"/>
            <a:ext cx="2331720" cy="1234440"/>
          </a:xfrm>
          <a:prstGeom prst="roundRect">
            <a:avLst/>
          </a:prstGeom>
          <a:solidFill>
            <a:srgbClr val="EC48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2606040"/>
            <a:ext cx="233172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79" y="3063240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F1F5F9"/>
                </a:solidFill>
                <a:latin typeface="Aptos"/>
              </a:rPr>
              <a:t>r?les utilisateurs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3999" y="2331720"/>
            <a:ext cx="2331720" cy="123444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3999" y="2606040"/>
            <a:ext cx="233172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3999" y="3063240"/>
            <a:ext cx="23317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F1F5F9"/>
                </a:solidFill>
                <a:latin typeface="Aptos"/>
              </a:rPr>
              <a:t>langues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160520"/>
            <a:ext cx="3200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97280" y="4389120"/>
            <a:ext cx="438912" cy="438912"/>
          </a:xfrm>
          <a:prstGeom prst="roundRect">
            <a:avLst/>
          </a:prstGeom>
          <a:solidFill>
            <a:srgbClr val="F5F3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25295" y="4507992"/>
            <a:ext cx="164592" cy="164592"/>
          </a:xfrm>
          <a:prstGeom prst="ellipse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73352" y="4361688"/>
            <a:ext cx="22402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92140"/>
                </a:solidFill>
                <a:latin typeface="Aptos"/>
              </a:rPr>
              <a:t>Centraliser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" y="5001768"/>
            <a:ext cx="26974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80" b="0">
                <a:solidFill>
                  <a:srgbClr val="5B6780"/>
                </a:solidFill>
                <a:latin typeface="Aptos"/>
              </a:rPr>
              <a:t>Tous les dossiers dans une seule base de donn?es relationnelle.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4160520"/>
            <a:ext cx="3200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99432" y="4389120"/>
            <a:ext cx="438912" cy="438912"/>
          </a:xfrm>
          <a:prstGeom prst="roundRect">
            <a:avLst/>
          </a:prstGeom>
          <a:solidFill>
            <a:srgbClr val="EFF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27448" y="4507992"/>
            <a:ext cx="164592" cy="164592"/>
          </a:xfrm>
          <a:prstGeom prst="ellipse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75504" y="4361688"/>
            <a:ext cx="22402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92140"/>
                </a:solidFill>
                <a:latin typeface="Aptos"/>
              </a:rPr>
              <a:t>Acc?l?rer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6864" y="5001768"/>
            <a:ext cx="26974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80" b="0">
                <a:solidFill>
                  <a:srgbClr val="5B6780"/>
                </a:solidFill>
                <a:latin typeface="Aptos"/>
              </a:rPr>
              <a:t>Affectation rapide au service responsable.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4160520"/>
            <a:ext cx="3200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92440" y="4389120"/>
            <a:ext cx="438912" cy="438912"/>
          </a:xfrm>
          <a:prstGeom prst="roundRect">
            <a:avLst/>
          </a:prstGeom>
          <a:solidFill>
            <a:srgbClr val="ECFD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20456" y="4507992"/>
            <a:ext cx="164592" cy="164592"/>
          </a:xfrm>
          <a:prstGeom prst="ellipse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68512" y="4361688"/>
            <a:ext cx="22402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92140"/>
                </a:solidFill>
                <a:latin typeface="Aptos"/>
              </a:rPr>
              <a:t>Piloter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9871" y="5001768"/>
            <a:ext cx="26974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80" b="0">
                <a:solidFill>
                  <a:srgbClr val="5B6780"/>
                </a:solidFill>
                <a:latin typeface="Aptos"/>
              </a:rPr>
              <a:t>Statistiques, rapports PDF/Excel et indicateurs exploitables.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84048"/>
            <a:ext cx="530352" cy="530352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53035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521207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92140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B6780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6949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700" b="1">
                <a:solidFill>
                  <a:srgbClr val="192140"/>
                </a:solidFill>
                <a:latin typeface="Aptos"/>
              </a:rPr>
              <a:t>Fonctionnalit?s principales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73352"/>
            <a:ext cx="74066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5B6780"/>
                </a:solidFill>
                <a:latin typeface="Aptos"/>
              </a:rPr>
              <a:t>Un p?rim?tre complet pour g?rer le cycle de vie des plaintes.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148840"/>
            <a:ext cx="777240" cy="50292"/>
          </a:xfrm>
          <a:prstGeom prst="roundRect">
            <a:avLst/>
          </a:prstGeom>
          <a:solidFill>
            <a:srgbClr val="EC48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2148840"/>
            <a:ext cx="777240" cy="50292"/>
          </a:xfrm>
          <a:prstGeom prst="roundRect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94A3B8"/>
                </a:solidFill>
                <a:latin typeface="Aptos"/>
              </a:rPr>
              <a:t>Portail de gestion des r?clamations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94A3B8"/>
                </a:solidFill>
                <a:latin typeface="Aptos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20">
                <a:solidFill>
                  <a:srgbClr val="192140"/>
                </a:solidFill>
                <a:latin typeface="Aptos"/>
              </a:defRPr>
            </a:pPr>
            <a:r>
              <a:t>D?p?t s?curis? des r?clamations</a:t>
            </a:r>
          </a:p>
          <a:p>
            <a:pPr>
              <a:spcAft>
                <a:spcPts val="600"/>
              </a:spcAft>
              <a:defRPr sz="1420">
                <a:solidFill>
                  <a:srgbClr val="192140"/>
                </a:solidFill>
                <a:latin typeface="Aptos"/>
              </a:defRPr>
            </a:pPr>
            <a:r>
              <a:t>R?f?rence unique par dossier</a:t>
            </a:r>
          </a:p>
          <a:p>
            <a:pPr>
              <a:spcAft>
                <a:spcPts val="600"/>
              </a:spcAft>
              <a:defRPr sz="1420">
                <a:solidFill>
                  <a:srgbClr val="192140"/>
                </a:solidFill>
                <a:latin typeface="Aptos"/>
              </a:defRPr>
            </a:pPr>
            <a:r>
              <a:t>Suivi par statut et priorit?</a:t>
            </a:r>
          </a:p>
          <a:p>
            <a:pPr>
              <a:spcAft>
                <a:spcPts val="600"/>
              </a:spcAft>
              <a:defRPr sz="1420">
                <a:solidFill>
                  <a:srgbClr val="192140"/>
                </a:solidFill>
                <a:latin typeface="Aptos"/>
              </a:defRPr>
            </a:pPr>
            <a:r>
              <a:t>Attribution aux services et employ?s</a:t>
            </a:r>
          </a:p>
          <a:p>
            <a:pPr>
              <a:spcAft>
                <a:spcPts val="600"/>
              </a:spcAft>
              <a:defRPr sz="1420">
                <a:solidFill>
                  <a:srgbClr val="192140"/>
                </a:solidFill>
                <a:latin typeface="Aptos"/>
              </a:defRPr>
            </a:pPr>
            <a:r>
              <a:t>Historique complet des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24028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20">
                <a:solidFill>
                  <a:srgbClr val="192140"/>
                </a:solidFill>
                <a:latin typeface="Aptos"/>
              </a:defRPr>
            </a:pPr>
            <a:r>
              <a:t>Notifications automatiques</a:t>
            </a:r>
          </a:p>
          <a:p>
            <a:pPr>
              <a:spcAft>
                <a:spcPts val="600"/>
              </a:spcAft>
              <a:defRPr sz="1420">
                <a:solidFill>
                  <a:srgbClr val="192140"/>
                </a:solidFill>
                <a:latin typeface="Aptos"/>
              </a:defRPr>
            </a:pPr>
            <a:r>
              <a:t>Recherche avanc?e multicrit?re</a:t>
            </a:r>
          </a:p>
          <a:p>
            <a:pPr>
              <a:spcAft>
                <a:spcPts val="600"/>
              </a:spcAft>
              <a:defRPr sz="1420">
                <a:solidFill>
                  <a:srgbClr val="192140"/>
                </a:solidFill>
                <a:latin typeface="Aptos"/>
              </a:defRPr>
            </a:pPr>
            <a:r>
              <a:t>Tableau de bord statistique</a:t>
            </a:r>
          </a:p>
          <a:p>
            <a:pPr>
              <a:spcAft>
                <a:spcPts val="600"/>
              </a:spcAft>
              <a:defRPr sz="1420">
                <a:solidFill>
                  <a:srgbClr val="192140"/>
                </a:solidFill>
                <a:latin typeface="Aptos"/>
              </a:defRPr>
            </a:pPr>
            <a:r>
              <a:t>Exports PDF et Excel</a:t>
            </a:r>
          </a:p>
          <a:p>
            <a:pPr>
              <a:spcAft>
                <a:spcPts val="600"/>
              </a:spcAft>
              <a:defRPr sz="1420">
                <a:solidFill>
                  <a:srgbClr val="192140"/>
                </a:solidFill>
                <a:latin typeface="Aptos"/>
              </a:defRPr>
            </a:pPr>
            <a:r>
              <a:t>Interface multilingue FR / EN / 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617720"/>
            <a:ext cx="10424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mpla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7" y="4727448"/>
            <a:ext cx="10204704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33271" y="5724144"/>
            <a:ext cx="10094976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5B6780"/>
                </a:solidFill>
                <a:latin typeface="Aptos"/>
              </a:rPr>
              <a:t>Liste op?rationnelle avec filtres, priorit?s et exports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84048"/>
            <a:ext cx="530352" cy="530352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53035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521207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92140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B6780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6949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700" b="1">
                <a:solidFill>
                  <a:srgbClr val="192140"/>
                </a:solidFill>
                <a:latin typeface="Aptos"/>
              </a:rPr>
              <a:t>R?les et responsabilit?s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73352"/>
            <a:ext cx="74066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5B6780"/>
                </a:solidFill>
                <a:latin typeface="Aptos"/>
              </a:rPr>
              <a:t>Un acc?s adapt? ? chaque profil pour prot?ger les donn?es et fluidifier le travail.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148840"/>
            <a:ext cx="777240" cy="50292"/>
          </a:xfrm>
          <a:prstGeom prst="roundRect">
            <a:avLst/>
          </a:prstGeom>
          <a:solidFill>
            <a:srgbClr val="EC48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2148840"/>
            <a:ext cx="777240" cy="50292"/>
          </a:xfrm>
          <a:prstGeom prst="roundRect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94A3B8"/>
                </a:solidFill>
                <a:latin typeface="Aptos"/>
              </a:rPr>
              <a:t>Portail de gestion des r?clamations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94A3B8"/>
                </a:solidFill>
                <a:latin typeface="Aptos"/>
              </a:rPr>
              <a:t>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331720"/>
            <a:ext cx="3154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1560" y="2560320"/>
            <a:ext cx="438912" cy="438912"/>
          </a:xfrm>
          <a:prstGeom prst="roundRect">
            <a:avLst/>
          </a:prstGeom>
          <a:solidFill>
            <a:srgbClr val="F5F3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651760"/>
            <a:ext cx="438912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ptos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2532888"/>
            <a:ext cx="21945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92140"/>
                </a:solidFill>
                <a:latin typeface="Aptos"/>
              </a:rPr>
              <a:t>Administrateur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172968"/>
            <a:ext cx="2651760" cy="1463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80" b="0">
                <a:solidFill>
                  <a:srgbClr val="5B6780"/>
                </a:solidFill>
                <a:latin typeface="Aptos"/>
              </a:rPr>
              <a:t>Gestion globale, services, employ?s, utilisateurs, rapports et supervision.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2331720"/>
            <a:ext cx="3154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00600" y="2560320"/>
            <a:ext cx="438912" cy="438912"/>
          </a:xfrm>
          <a:prstGeom prst="roundRect">
            <a:avLst/>
          </a:prstGeom>
          <a:solidFill>
            <a:srgbClr val="EFF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2651760"/>
            <a:ext cx="438912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0EA5E9"/>
                </a:solidFill>
                <a:latin typeface="Aptos"/>
              </a:rP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2532888"/>
            <a:ext cx="21945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92140"/>
                </a:solidFill>
                <a:latin typeface="Aptos"/>
              </a:rPr>
              <a:t>Employ?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2" y="3172968"/>
            <a:ext cx="2651760" cy="1463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80" b="0">
                <a:solidFill>
                  <a:srgbClr val="5B6780"/>
                </a:solidFill>
                <a:latin typeface="Aptos"/>
              </a:rPr>
              <a:t>Qualification, affectation, traitement et suivi des r?clamations.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2331720"/>
            <a:ext cx="3154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49640" y="2560320"/>
            <a:ext cx="438912" cy="438912"/>
          </a:xfrm>
          <a:prstGeom prst="roundRect">
            <a:avLst/>
          </a:prstGeom>
          <a:solidFill>
            <a:srgbClr val="FDF2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2651760"/>
            <a:ext cx="438912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EC4899"/>
                </a:solidFill>
                <a:latin typeface="Aptos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2532888"/>
            <a:ext cx="21945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92140"/>
                </a:solidFill>
                <a:latin typeface="Aptos"/>
              </a:rPr>
              <a:t>Citoyen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7072" y="3172968"/>
            <a:ext cx="2651760" cy="1463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80" b="0">
                <a:solidFill>
                  <a:srgbClr val="5B6780"/>
                </a:solidFill>
                <a:latin typeface="Aptos"/>
              </a:rPr>
              <a:t>Cr?ation de compte, d?p?t de r?clamation, consultation et notifications.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257800"/>
            <a:ext cx="9875520" cy="51206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17320" y="5431536"/>
            <a:ext cx="932688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5B6780"/>
                </a:solidFill>
                <a:latin typeface="Aptos"/>
              </a:rPr>
              <a:t>Principe appliqu? : chaque utilisateur ne voit que les actions utiles ? son r?le.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84048"/>
            <a:ext cx="530352" cy="530352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53035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521207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92140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B6780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6949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700" b="1">
                <a:solidFill>
                  <a:srgbClr val="192140"/>
                </a:solidFill>
                <a:latin typeface="Aptos"/>
              </a:rPr>
              <a:t>Fonctionnement m?tier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73352"/>
            <a:ext cx="74066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5B6780"/>
                </a:solidFill>
                <a:latin typeface="Aptos"/>
              </a:rPr>
              <a:t>Le cycle de traitement est simple, transparent et historis?.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148840"/>
            <a:ext cx="777240" cy="50292"/>
          </a:xfrm>
          <a:prstGeom prst="roundRect">
            <a:avLst/>
          </a:prstGeom>
          <a:solidFill>
            <a:srgbClr val="EC48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2148840"/>
            <a:ext cx="777240" cy="50292"/>
          </a:xfrm>
          <a:prstGeom prst="roundRect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94A3B8"/>
                </a:solidFill>
                <a:latin typeface="Aptos"/>
              </a:rPr>
              <a:t>Portail de gestion des r?clamations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94A3B8"/>
                </a:solidFill>
                <a:latin typeface="Aptos"/>
              </a:rPr>
              <a:t>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423160"/>
            <a:ext cx="2212848" cy="1828800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633472"/>
            <a:ext cx="50292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999232"/>
            <a:ext cx="1828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D?p?t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429000"/>
            <a:ext cx="17830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F8FAFC"/>
                </a:solidFill>
                <a:latin typeface="Aptos"/>
              </a:rPr>
              <a:t>Le citoyen soumet une r?clamation.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063240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400" b="1">
                <a:solidFill>
                  <a:srgbClr val="7C3AED"/>
                </a:solidFill>
                <a:latin typeface="Aptos"/>
              </a:rPr>
              <a:t>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93592" y="2423160"/>
            <a:ext cx="2212848" cy="1828800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58184" y="2633472"/>
            <a:ext cx="50292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8184" y="2999232"/>
            <a:ext cx="1828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Qualification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58184" y="3429000"/>
            <a:ext cx="17830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F8FAFC"/>
                </a:solidFill>
                <a:latin typeface="Aptos"/>
              </a:rPr>
              <a:t>Le service concern? est identifi?.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5312" y="3063240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400" b="1">
                <a:solidFill>
                  <a:srgbClr val="7C3AED"/>
                </a:solidFill>
                <a:latin typeface="Aptos"/>
              </a:rPr>
              <a:t>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9944" y="2423160"/>
            <a:ext cx="2212848" cy="1828800"/>
          </a:xfrm>
          <a:prstGeom prst="roundRect">
            <a:avLst/>
          </a:prstGeom>
          <a:solidFill>
            <a:srgbClr val="F59E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4536" y="2633472"/>
            <a:ext cx="50292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4536" y="2999232"/>
            <a:ext cx="1828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Traitement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4536" y="3429000"/>
            <a:ext cx="17830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F8FAFC"/>
                </a:solidFill>
                <a:latin typeface="Aptos"/>
              </a:rPr>
              <a:t>Un employ? suit et met ? jour le dossier.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41663" y="3063240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400" b="1">
                <a:solidFill>
                  <a:srgbClr val="7C3AED"/>
                </a:solidFill>
                <a:latin typeface="Aptos"/>
              </a:rPr>
              <a:t>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26296" y="2423160"/>
            <a:ext cx="2212848" cy="182880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90888" y="2633472"/>
            <a:ext cx="50292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0888" y="2999232"/>
            <a:ext cx="18288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Cl?ture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90888" y="3429000"/>
            <a:ext cx="17830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F8FAFC"/>
                </a:solidFill>
                <a:latin typeface="Aptos"/>
              </a:rPr>
              <a:t>Le citoyen re?oit la d?cision et le suivi.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" y="4709160"/>
            <a:ext cx="5120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omplain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4818888"/>
            <a:ext cx="4901183" cy="9144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24712" y="5815584"/>
            <a:ext cx="4791455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5B6780"/>
                </a:solidFill>
                <a:latin typeface="Aptos"/>
              </a:rPr>
              <a:t>Historique et d?tails du dossier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709160"/>
            <a:ext cx="4846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notifi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4818888"/>
            <a:ext cx="4626864" cy="9144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65392" y="5815584"/>
            <a:ext cx="4517136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5B6780"/>
                </a:solidFill>
                <a:latin typeface="Aptos"/>
              </a:rPr>
              <a:t>Notification citoyenne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84048"/>
            <a:ext cx="530352" cy="530352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53035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521207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92140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B6780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6949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700" b="1">
                <a:solidFill>
                  <a:srgbClr val="192140"/>
                </a:solidFill>
                <a:latin typeface="Aptos"/>
              </a:rPr>
              <a:t>Architecture technique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73352"/>
            <a:ext cx="74066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5B6780"/>
                </a:solidFill>
                <a:latin typeface="Aptos"/>
              </a:rPr>
              <a:t>Une application Laravel structur?e selon MVC.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148840"/>
            <a:ext cx="777240" cy="50292"/>
          </a:xfrm>
          <a:prstGeom prst="roundRect">
            <a:avLst/>
          </a:prstGeom>
          <a:solidFill>
            <a:srgbClr val="EC48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2148840"/>
            <a:ext cx="777240" cy="50292"/>
          </a:xfrm>
          <a:prstGeom prst="roundRect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94A3B8"/>
                </a:solidFill>
                <a:latin typeface="Aptos"/>
              </a:rPr>
              <a:t>Portail de gestion des r?clamations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94A3B8"/>
                </a:solidFill>
                <a:latin typeface="Aptos"/>
              </a:rPr>
              <a:t>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331720"/>
            <a:ext cx="2148840" cy="786384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78608"/>
            <a:ext cx="214884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52928"/>
            <a:ext cx="214884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50" b="0">
                <a:solidFill>
                  <a:srgbClr val="EDE9FE"/>
                </a:solidFill>
                <a:latin typeface="Aptos"/>
              </a:rPr>
              <a:t>Blade + Bootstrap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148840"/>
            <a:ext cx="2651760" cy="1152144"/>
          </a:xfrm>
          <a:prstGeom prst="roundRect">
            <a:avLst/>
          </a:prstGeom>
          <a:solidFill>
            <a:srgbClr val="0D12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2532888"/>
            <a:ext cx="265176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Laravel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852928"/>
            <a:ext cx="265176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50" b="0">
                <a:solidFill>
                  <a:srgbClr val="CBD5E1"/>
                </a:solidFill>
                <a:latin typeface="Aptos"/>
              </a:rPr>
              <a:t>Routes ? Middleware ? Controllers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2331720"/>
            <a:ext cx="2011680" cy="786384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578608"/>
            <a:ext cx="201168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852928"/>
            <a:ext cx="201168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50" b="0">
                <a:solidFill>
                  <a:srgbClr val="E0F2FE"/>
                </a:solidFill>
                <a:latin typeface="Aptos"/>
              </a:rPr>
              <a:t>PDF / Excel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77639" y="3703320"/>
            <a:ext cx="2103120" cy="713232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3950208"/>
            <a:ext cx="210312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Aptos"/>
              </a:rPr>
              <a:t>Eloquent Models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58768" y="4892040"/>
            <a:ext cx="2331720" cy="713232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58768" y="5138928"/>
            <a:ext cx="233172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MySQL / XAMPP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26080" y="2724912"/>
            <a:ext cx="777240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355080" y="2724912"/>
            <a:ext cx="868680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029200" y="3291840"/>
            <a:ext cx="0" cy="41148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029200" y="4416552"/>
            <a:ext cx="0" cy="475488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68680" y="5779008"/>
            <a:ext cx="1024128" cy="292608"/>
          </a:xfrm>
          <a:prstGeom prst="roundRect">
            <a:avLst/>
          </a:prstGeom>
          <a:solidFill>
            <a:srgbClr val="EFF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856732"/>
            <a:ext cx="932688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70" b="1">
                <a:solidFill>
                  <a:srgbClr val="7C3AED"/>
                </a:solidFill>
                <a:latin typeface="Aptos"/>
              </a:rPr>
              <a:t>PHP 8.2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67128" y="5779008"/>
            <a:ext cx="1024128" cy="292608"/>
          </a:xfrm>
          <a:prstGeom prst="roundRect">
            <a:avLst/>
          </a:prstGeom>
          <a:solidFill>
            <a:srgbClr val="F5F3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12848" y="5856732"/>
            <a:ext cx="932688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70" b="1">
                <a:solidFill>
                  <a:srgbClr val="7C3AED"/>
                </a:solidFill>
                <a:latin typeface="Aptos"/>
              </a:rPr>
              <a:t>Laravel 12.61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65576" y="5779008"/>
            <a:ext cx="1024128" cy="292608"/>
          </a:xfrm>
          <a:prstGeom prst="roundRect">
            <a:avLst/>
          </a:prstGeom>
          <a:solidFill>
            <a:srgbClr val="ECFD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11296" y="5856732"/>
            <a:ext cx="932688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70" b="1">
                <a:solidFill>
                  <a:srgbClr val="5B6780"/>
                </a:solidFill>
                <a:latin typeface="Aptos"/>
              </a:rPr>
              <a:t>MariaDB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64024" y="5779008"/>
            <a:ext cx="1024128" cy="292608"/>
          </a:xfrm>
          <a:prstGeom prst="roundRect">
            <a:avLst/>
          </a:prstGeom>
          <a:solidFill>
            <a:srgbClr val="FDF2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9744" y="5856732"/>
            <a:ext cx="932688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70" b="1">
                <a:solidFill>
                  <a:srgbClr val="5B6780"/>
                </a:solidFill>
                <a:latin typeface="Aptos"/>
              </a:rPr>
              <a:t>Chart.js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62472" y="5779008"/>
            <a:ext cx="1024128" cy="292608"/>
          </a:xfrm>
          <a:prstGeom prst="roundRect">
            <a:avLst/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08192" y="5856732"/>
            <a:ext cx="932688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70" b="1">
                <a:solidFill>
                  <a:srgbClr val="5B6780"/>
                </a:solidFill>
                <a:latin typeface="Aptos"/>
              </a:rPr>
              <a:t>Dompdf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84048"/>
            <a:ext cx="530352" cy="530352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53035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521207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92140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B6780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6949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700" b="1">
                <a:solidFill>
                  <a:srgbClr val="192140"/>
                </a:solidFill>
                <a:latin typeface="Aptos"/>
              </a:rPr>
              <a:t>Code utilis? et organisation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73352"/>
            <a:ext cx="74066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5B6780"/>
                </a:solidFill>
                <a:latin typeface="Aptos"/>
              </a:rPr>
              <a:t>Le code suit les bonnes pratiques Laravel: clair, modulaire et maintenable.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148840"/>
            <a:ext cx="777240" cy="50292"/>
          </a:xfrm>
          <a:prstGeom prst="roundRect">
            <a:avLst/>
          </a:prstGeom>
          <a:solidFill>
            <a:srgbClr val="EC48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2148840"/>
            <a:ext cx="777240" cy="50292"/>
          </a:xfrm>
          <a:prstGeom prst="roundRect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94A3B8"/>
                </a:solidFill>
                <a:latin typeface="Aptos"/>
              </a:rPr>
              <a:t>Portail de gestion des r?clamations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94A3B8"/>
                </a:solidFill>
                <a:latin typeface="Aptos"/>
              </a:rPr>
              <a:t>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48840"/>
            <a:ext cx="5394960" cy="3977639"/>
          </a:xfrm>
          <a:prstGeom prst="roundRect">
            <a:avLst/>
          </a:prstGeom>
          <a:solidFill>
            <a:srgbClr val="0D12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450592"/>
            <a:ext cx="4800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0">
                <a:solidFill>
                  <a:srgbClr val="E2E8F0"/>
                </a:solidFill>
                <a:latin typeface="Consolas"/>
              </a:rPr>
              <a:t>routes/web.php
Route::resource('complaints', ComplaintController::class);
ComplaintController.php
- validate() les donn?es entrantes
- cr?e la r?clamation
- ajoute l'historique
- envoie une notification
Models Eloquent
Complaint ? Citizen / Service / Histories / Notifications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212848"/>
            <a:ext cx="2331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20840" y="2441448"/>
            <a:ext cx="438912" cy="438912"/>
          </a:xfrm>
          <a:prstGeom prst="roundRect">
            <a:avLst/>
          </a:prstGeom>
          <a:solidFill>
            <a:srgbClr val="F5F3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48855" y="2560320"/>
            <a:ext cx="164592" cy="164592"/>
          </a:xfrm>
          <a:prstGeom prst="ellipse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2414016"/>
            <a:ext cx="1371599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92140"/>
                </a:solidFill>
                <a:latin typeface="Aptos"/>
              </a:rPr>
              <a:t>Routes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3054096"/>
            <a:ext cx="1828799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80" b="0">
                <a:solidFill>
                  <a:srgbClr val="5B6780"/>
                </a:solidFill>
                <a:latin typeface="Aptos"/>
              </a:rPr>
              <a:t>Connectent les URLs aux contr?leurs.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212848"/>
            <a:ext cx="2331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72600" y="2441448"/>
            <a:ext cx="438912" cy="438912"/>
          </a:xfrm>
          <a:prstGeom prst="roundRect">
            <a:avLst/>
          </a:prstGeom>
          <a:solidFill>
            <a:srgbClr val="EFF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00616" y="2560320"/>
            <a:ext cx="164592" cy="164592"/>
          </a:xfrm>
          <a:prstGeom prst="ellipse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48672" y="2414016"/>
            <a:ext cx="1371599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92140"/>
                </a:solidFill>
                <a:latin typeface="Aptos"/>
              </a:rPr>
              <a:t>Controllers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3054096"/>
            <a:ext cx="1828799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80" b="0">
                <a:solidFill>
                  <a:srgbClr val="5B6780"/>
                </a:solidFill>
                <a:latin typeface="Aptos"/>
              </a:rPr>
              <a:t>Appliquent la logique m?tier.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794760"/>
            <a:ext cx="2331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20840" y="4023360"/>
            <a:ext cx="438912" cy="438912"/>
          </a:xfrm>
          <a:prstGeom prst="roundRect">
            <a:avLst/>
          </a:prstGeom>
          <a:solidFill>
            <a:srgbClr val="ECFD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48855" y="4142232"/>
            <a:ext cx="164592" cy="164592"/>
          </a:xfrm>
          <a:prstGeom prst="ellipse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96912" y="3995928"/>
            <a:ext cx="1371599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92140"/>
                </a:solidFill>
                <a:latin typeface="Aptos"/>
              </a:rPr>
              <a:t>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4636008"/>
            <a:ext cx="1828799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80" b="0">
                <a:solidFill>
                  <a:srgbClr val="5B6780"/>
                </a:solidFill>
                <a:latin typeface="Aptos"/>
              </a:rPr>
              <a:t>G?rent les relations de donn?es.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3794760"/>
            <a:ext cx="2331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72600" y="4023360"/>
            <a:ext cx="438912" cy="438912"/>
          </a:xfrm>
          <a:prstGeom prst="roundRect">
            <a:avLst/>
          </a:prstGeom>
          <a:solidFill>
            <a:srgbClr val="FDF2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00616" y="4142232"/>
            <a:ext cx="164592" cy="164592"/>
          </a:xfrm>
          <a:prstGeom prst="ellipse">
            <a:avLst/>
          </a:prstGeom>
          <a:solidFill>
            <a:srgbClr val="EC48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48672" y="3995928"/>
            <a:ext cx="1371599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92140"/>
                </a:solidFill>
                <a:latin typeface="Aptos"/>
              </a:rPr>
              <a:t>Views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0032" y="4636008"/>
            <a:ext cx="1828799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80" b="0">
                <a:solidFill>
                  <a:srgbClr val="5B6780"/>
                </a:solidFill>
                <a:latin typeface="Aptos"/>
              </a:rPr>
              <a:t>Affichent l?interface Blade.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84048"/>
            <a:ext cx="530352" cy="530352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53035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521207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92140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B6780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6949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700" b="1">
                <a:solidFill>
                  <a:srgbClr val="192140"/>
                </a:solidFill>
                <a:latin typeface="Aptos"/>
              </a:rPr>
              <a:t>Mod?le de donn?es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73352"/>
            <a:ext cx="74066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5B6780"/>
                </a:solidFill>
                <a:latin typeface="Aptos"/>
              </a:rPr>
              <a:t>Une base relationnelle coh?rente pour assurer tra?abilit? et 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148840"/>
            <a:ext cx="777240" cy="50292"/>
          </a:xfrm>
          <a:prstGeom prst="roundRect">
            <a:avLst/>
          </a:prstGeom>
          <a:solidFill>
            <a:srgbClr val="EC48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2148840"/>
            <a:ext cx="777240" cy="50292"/>
          </a:xfrm>
          <a:prstGeom prst="roundRect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94A3B8"/>
                </a:solidFill>
                <a:latin typeface="Aptos"/>
              </a:rPr>
              <a:t>Portail de gestion des r?clamations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94A3B8"/>
                </a:solidFill>
                <a:latin typeface="Aptos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31720"/>
            <a:ext cx="2240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496312"/>
            <a:ext cx="173736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7C3AED"/>
                </a:solidFill>
                <a:latin typeface="Aptos"/>
              </a:rPr>
              <a:t>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2770632"/>
            <a:ext cx="182880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80" b="0">
                <a:solidFill>
                  <a:srgbClr val="5B6780"/>
                </a:solidFill>
                <a:latin typeface="Aptos"/>
              </a:rPr>
              <a:t>r?le, email, mot de passe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2331720"/>
            <a:ext cx="2240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2496312"/>
            <a:ext cx="173736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7C3AED"/>
                </a:solidFill>
                <a:latin typeface="Aptos"/>
              </a:rPr>
              <a:t>citizens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770632"/>
            <a:ext cx="182880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80" b="0">
                <a:solidFill>
                  <a:srgbClr val="5B6780"/>
                </a:solidFill>
                <a:latin typeface="Aptos"/>
              </a:rPr>
              <a:t>identit? citoyen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331720"/>
            <a:ext cx="2240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2496312"/>
            <a:ext cx="173736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7C3AED"/>
                </a:solidFill>
                <a:latin typeface="Aptos"/>
              </a:rPr>
              <a:t>complaints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770632"/>
            <a:ext cx="182880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80" b="0">
                <a:solidFill>
                  <a:srgbClr val="5B6780"/>
                </a:solidFill>
                <a:latin typeface="Aptos"/>
              </a:rPr>
              <a:t>statut, priorit?, contenu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2331720"/>
            <a:ext cx="2240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2496312"/>
            <a:ext cx="173736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7C3AED"/>
                </a:solidFill>
                <a:latin typeface="Aptos"/>
              </a:rPr>
              <a:t>histories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2770632"/>
            <a:ext cx="182880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80" b="0">
                <a:solidFill>
                  <a:srgbClr val="5B6780"/>
                </a:solidFill>
                <a:latin typeface="Aptos"/>
              </a:rPr>
              <a:t>actions horodat?es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4069080"/>
            <a:ext cx="2240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76272" y="4233672"/>
            <a:ext cx="173736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7C3AED"/>
                </a:solidFill>
                <a:latin typeface="Aptos"/>
              </a:rPr>
              <a:t>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76272" y="4507992"/>
            <a:ext cx="182880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80" b="0">
                <a:solidFill>
                  <a:srgbClr val="5B6780"/>
                </a:solidFill>
                <a:latin typeface="Aptos"/>
              </a:rPr>
              <a:t>services communaux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0" y="4069080"/>
            <a:ext cx="2240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19472" y="4233672"/>
            <a:ext cx="173736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7C3AED"/>
                </a:solidFill>
                <a:latin typeface="Aptos"/>
              </a:rPr>
              <a:t>employees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9472" y="4507992"/>
            <a:ext cx="182880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80" b="0">
                <a:solidFill>
                  <a:srgbClr val="5B6780"/>
                </a:solidFill>
                <a:latin typeface="Aptos"/>
              </a:rPr>
              <a:t>agents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4069080"/>
            <a:ext cx="2240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62671" y="4233672"/>
            <a:ext cx="1737360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50" b="1">
                <a:solidFill>
                  <a:srgbClr val="7C3AED"/>
                </a:solidFill>
                <a:latin typeface="Aptos"/>
              </a:rPr>
              <a:t>notifications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2671" y="4507992"/>
            <a:ext cx="182880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80" b="0">
                <a:solidFill>
                  <a:srgbClr val="5B6780"/>
                </a:solidFill>
                <a:latin typeface="Aptos"/>
              </a:rPr>
              <a:t>messages envoy?s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26280" y="2743200"/>
            <a:ext cx="1600200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242048" y="2743200"/>
            <a:ext cx="1627632" cy="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242048" y="3154680"/>
            <a:ext cx="1033272" cy="91440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5870448" y="3154680"/>
            <a:ext cx="256032" cy="91440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3136392" y="3154680"/>
            <a:ext cx="2990088" cy="914400"/>
          </a:xfrm>
          <a:prstGeom prst="line">
            <a:avLst/>
          </a:prstGeom>
          <a:ln w="254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417320" y="5532120"/>
            <a:ext cx="9418320" cy="438912"/>
          </a:xfrm>
          <a:prstGeom prst="roundRect">
            <a:avLst/>
          </a:prstGeom>
          <a:solidFill>
            <a:srgbClr val="ECFD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37360" y="5687568"/>
            <a:ext cx="886968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1">
                <a:solidFill>
                  <a:srgbClr val="10B981"/>
                </a:solidFill>
                <a:latin typeface="Aptos"/>
              </a:rPr>
              <a:t>Migrations Laravel + cl?s ?trang?res + index = base fiable, ?volutive et rapide ? interroger.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84048"/>
            <a:ext cx="530352" cy="530352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53035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521207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92140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B6780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6949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700" b="1">
                <a:solidFill>
                  <a:srgbClr val="192140"/>
                </a:solidFill>
                <a:latin typeface="Aptos"/>
              </a:rPr>
              <a:t>Interface utilisateur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73352"/>
            <a:ext cx="74066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5B6780"/>
                </a:solidFill>
                <a:latin typeface="Aptos"/>
              </a:rPr>
              <a:t>Un design responsive, moderne et accessible.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148840"/>
            <a:ext cx="777240" cy="50292"/>
          </a:xfrm>
          <a:prstGeom prst="roundRect">
            <a:avLst/>
          </a:prstGeom>
          <a:solidFill>
            <a:srgbClr val="EC48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2148840"/>
            <a:ext cx="777240" cy="50292"/>
          </a:xfrm>
          <a:prstGeom prst="roundRect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94A3B8"/>
                </a:solidFill>
                <a:latin typeface="Aptos"/>
              </a:rPr>
              <a:t>Portail de gestion des r?clamations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94A3B8"/>
                </a:solidFill>
                <a:latin typeface="Aptos"/>
              </a:rPr>
              <a:t>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57400"/>
            <a:ext cx="534924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167128"/>
            <a:ext cx="5129783" cy="3108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0392" y="5358384"/>
            <a:ext cx="5020055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5B6780"/>
                </a:solidFill>
                <a:latin typeface="Aptos"/>
              </a:rPr>
              <a:t>Tableau de bord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057400"/>
            <a:ext cx="51663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mplaint-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2167128"/>
            <a:ext cx="4946904" cy="309181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73952" y="5358384"/>
            <a:ext cx="4837176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5B6780"/>
                </a:solidFill>
                <a:latin typeface="Aptos"/>
              </a:rPr>
              <a:t>Formulaire de r?clamation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5989320"/>
            <a:ext cx="1152144" cy="292608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6067044"/>
            <a:ext cx="1060704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70" b="1">
                <a:solidFill>
                  <a:srgbClr val="EC4899"/>
                </a:solidFill>
                <a:latin typeface="Aptos"/>
              </a:rPr>
              <a:t>Couleurs vives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4600" y="5989320"/>
            <a:ext cx="1152144" cy="292608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6067044"/>
            <a:ext cx="1060704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70" b="1">
                <a:solidFill>
                  <a:srgbClr val="7C3AED"/>
                </a:solidFill>
                <a:latin typeface="Aptos"/>
              </a:rPr>
              <a:t>Cartes claires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5989320"/>
            <a:ext cx="1152144" cy="292608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9080" y="6067044"/>
            <a:ext cx="1060704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70" b="1">
                <a:solidFill>
                  <a:srgbClr val="0EA5E9"/>
                </a:solidFill>
                <a:latin typeface="Aptos"/>
              </a:rPr>
              <a:t>Responsive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32119" y="5989320"/>
            <a:ext cx="1152144" cy="292608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39" y="6067044"/>
            <a:ext cx="1060704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70" b="1">
                <a:solidFill>
                  <a:srgbClr val="10B981"/>
                </a:solidFill>
                <a:latin typeface="Aptos"/>
              </a:rPr>
              <a:t>RTL arabe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84048"/>
            <a:ext cx="530352" cy="530352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53035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521207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92140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B6780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6949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700" b="1">
                <a:solidFill>
                  <a:srgbClr val="192140"/>
                </a:solidFill>
                <a:latin typeface="Aptos"/>
              </a:rPr>
              <a:t>M?thode de d?veloppement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73352"/>
            <a:ext cx="74066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5B6780"/>
                </a:solidFill>
                <a:latin typeface="Aptos"/>
              </a:rPr>
              <a:t>Une d?marche progressive: analyse, conception, impl?mentation,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148840"/>
            <a:ext cx="777240" cy="50292"/>
          </a:xfrm>
          <a:prstGeom prst="roundRect">
            <a:avLst/>
          </a:prstGeom>
          <a:solidFill>
            <a:srgbClr val="EC48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2148840"/>
            <a:ext cx="777240" cy="50292"/>
          </a:xfrm>
          <a:prstGeom prst="roundRect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94A3B8"/>
                </a:solidFill>
                <a:latin typeface="Aptos"/>
              </a:rPr>
              <a:t>Portail de gestion des r?clamations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94A3B8"/>
                </a:solidFill>
                <a:latin typeface="Aptos"/>
              </a:rPr>
              <a:t>12</a:t>
            </a:r>
          </a:p>
        </p:txBody>
      </p:sp>
      <p:sp>
        <p:nvSpPr>
          <p:cNvPr id="12" name="Oval 11"/>
          <p:cNvSpPr/>
          <p:nvPr/>
        </p:nvSpPr>
        <p:spPr>
          <a:xfrm>
            <a:off x="1280160" y="2651760"/>
            <a:ext cx="640080" cy="640080"/>
          </a:xfrm>
          <a:prstGeom prst="ellipse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871216"/>
            <a:ext cx="64008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47872"/>
            <a:ext cx="2011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192140"/>
                </a:solidFill>
                <a:latin typeface="Aptos"/>
              </a:rPr>
              <a:t>Analyse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13632"/>
            <a:ext cx="20116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5B6780"/>
                </a:solidFill>
                <a:latin typeface="Aptos"/>
              </a:rPr>
              <a:t>Besoins, r?les, statuts et parcours.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47672" y="2971800"/>
            <a:ext cx="950976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584448" y="2651760"/>
            <a:ext cx="640080" cy="640080"/>
          </a:xfrm>
          <a:prstGeom prst="ellipse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4448" y="2871216"/>
            <a:ext cx="64008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3547872"/>
            <a:ext cx="2011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192140"/>
                </a:solidFill>
                <a:latin typeface="Aptos"/>
              </a:rPr>
              <a:t>Conception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3913632"/>
            <a:ext cx="20116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5B6780"/>
                </a:solidFill>
                <a:latin typeface="Aptos"/>
              </a:rPr>
              <a:t>Base de donn?es, architecture MVC, maquettes.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51960" y="2971800"/>
            <a:ext cx="950976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888736" y="2651760"/>
            <a:ext cx="640080" cy="640080"/>
          </a:xfrm>
          <a:prstGeom prst="ellipse">
            <a:avLst/>
          </a:prstGeom>
          <a:solidFill>
            <a:srgbClr val="EC48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88736" y="2871216"/>
            <a:ext cx="64008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2936" y="3547872"/>
            <a:ext cx="2011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192140"/>
                </a:solidFill>
                <a:latin typeface="Aptos"/>
              </a:rPr>
              <a:t>D?veloppement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2936" y="3913632"/>
            <a:ext cx="20116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5B6780"/>
                </a:solidFill>
                <a:latin typeface="Aptos"/>
              </a:rPr>
              <a:t>Laravel, Blade, Bootstrap, Eloquent.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56248" y="2971800"/>
            <a:ext cx="950976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193024" y="2651760"/>
            <a:ext cx="640080" cy="640080"/>
          </a:xfrm>
          <a:prstGeom prst="ellipse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3024" y="2871216"/>
            <a:ext cx="64008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7224" y="3547872"/>
            <a:ext cx="2011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192140"/>
                </a:solidFill>
                <a:latin typeface="Aptos"/>
              </a:rPr>
              <a:t>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07224" y="3913632"/>
            <a:ext cx="20116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5B6780"/>
                </a:solidFill>
                <a:latin typeface="Aptos"/>
              </a:rPr>
              <a:t>Tests, migrations, exports et serveur local.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860536" y="2971800"/>
            <a:ext cx="950976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497312" y="2651760"/>
            <a:ext cx="640080" cy="640080"/>
          </a:xfrm>
          <a:prstGeom prst="ellipse">
            <a:avLst/>
          </a:prstGeom>
          <a:solidFill>
            <a:srgbClr val="F59E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97312" y="2871216"/>
            <a:ext cx="64008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3547872"/>
            <a:ext cx="20116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192140"/>
                </a:solidFill>
                <a:latin typeface="Aptos"/>
              </a:rPr>
              <a:t>Publication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3913632"/>
            <a:ext cx="20116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0">
                <a:solidFill>
                  <a:srgbClr val="5B6780"/>
                </a:solidFill>
                <a:latin typeface="Aptos"/>
              </a:rPr>
              <a:t>GitHub priv? et documentation.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" y="5349240"/>
            <a:ext cx="964692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00200" y="5513832"/>
            <a:ext cx="896112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1">
                <a:solidFill>
                  <a:srgbClr val="5B6780"/>
                </a:solidFill>
                <a:latin typeface="Aptos"/>
              </a:rPr>
              <a:t>R?sultat: application test?e localement avec Laravel 12, MySQL XAMPP et donn?es de d?monstration.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84048"/>
            <a:ext cx="530352" cy="530352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53035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521207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92140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B6780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6949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700" b="1">
                <a:solidFill>
                  <a:srgbClr val="192140"/>
                </a:solidFill>
                <a:latin typeface="Aptos"/>
              </a:rPr>
              <a:t>B?n?fices du syst?me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73352"/>
            <a:ext cx="74066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5B6780"/>
                </a:solidFill>
                <a:latin typeface="Aptos"/>
              </a:rPr>
              <a:t>Des b?n?fices concrets pour la commune et pour les citoyens.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148840"/>
            <a:ext cx="777240" cy="50292"/>
          </a:xfrm>
          <a:prstGeom prst="roundRect">
            <a:avLst/>
          </a:prstGeom>
          <a:solidFill>
            <a:srgbClr val="EC48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2148840"/>
            <a:ext cx="777240" cy="50292"/>
          </a:xfrm>
          <a:prstGeom prst="roundRect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94A3B8"/>
                </a:solidFill>
                <a:latin typeface="Aptos"/>
              </a:rPr>
              <a:t>Portail de gestion des r?clamations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94A3B8"/>
                </a:solidFill>
                <a:latin typeface="Aptos"/>
              </a:rPr>
              <a:t>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331720"/>
            <a:ext cx="475488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43000" y="2560320"/>
            <a:ext cx="438912" cy="438912"/>
          </a:xfrm>
          <a:prstGeom prst="roundRect">
            <a:avLst/>
          </a:prstGeom>
          <a:solidFill>
            <a:srgbClr val="F5F3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651760"/>
            <a:ext cx="438912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ptos"/>
              </a:rPr>
              <a:t>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" y="2532888"/>
            <a:ext cx="37947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92140"/>
                </a:solidFill>
                <a:latin typeface="Aptos"/>
              </a:rPr>
              <a:t>Pour la commune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172968"/>
            <a:ext cx="425196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80" b="0">
                <a:solidFill>
                  <a:srgbClr val="5B6780"/>
                </a:solidFill>
                <a:latin typeface="Aptos"/>
              </a:rPr>
              <a:t>? Vision centralis?e des plaintes
? Coordination des services
? Reporting PDF/Excel
? D?cision bas?e sur les statistiques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331720"/>
            <a:ext cx="475488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0" y="2560320"/>
            <a:ext cx="438912" cy="438912"/>
          </a:xfrm>
          <a:prstGeom prst="roundRect">
            <a:avLst/>
          </a:prstGeom>
          <a:solidFill>
            <a:srgbClr val="FDF2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651760"/>
            <a:ext cx="438912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EC4899"/>
                </a:solidFill>
                <a:latin typeface="Aptos"/>
              </a:rPr>
              <a:t>??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2532888"/>
            <a:ext cx="37947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1">
                <a:solidFill>
                  <a:srgbClr val="192140"/>
                </a:solidFill>
                <a:latin typeface="Aptos"/>
              </a:rPr>
              <a:t>Pour les citoyens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3172968"/>
            <a:ext cx="425196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80" b="0">
                <a:solidFill>
                  <a:srgbClr val="5B6780"/>
                </a:solidFill>
                <a:latin typeface="Aptos"/>
              </a:rPr>
              <a:t>? D?p?t simple et s?curis?
? Suivi transparent
? Notifications automatiques
? Interface multilingue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74519" y="5532120"/>
            <a:ext cx="8458200" cy="438912"/>
          </a:xfrm>
          <a:prstGeom prst="roundRect">
            <a:avLst/>
          </a:prstGeom>
          <a:solidFill>
            <a:srgbClr val="EFF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48840" y="5687568"/>
            <a:ext cx="7909560" cy="91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1">
                <a:solidFill>
                  <a:srgbClr val="0EA5E9"/>
                </a:solidFill>
                <a:latin typeface="Aptos"/>
              </a:rPr>
              <a:t>Objectif final: renforcer la confiance, r?duire les d?lais et am?liorer la qualit? du service public.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384048"/>
            <a:ext cx="530352" cy="530352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53035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521207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92140"/>
                </a:solidFill>
                <a:latin typeface="Aptos"/>
              </a:rPr>
              <a:t>Commune d'Ahfir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502920"/>
            <a:ext cx="5029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B6780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69494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700" b="1">
                <a:solidFill>
                  <a:srgbClr val="192140"/>
                </a:solidFill>
                <a:latin typeface="Aptos"/>
              </a:rPr>
              <a:t>Perspectives d??volution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73352"/>
            <a:ext cx="74066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50" b="0">
                <a:solidFill>
                  <a:srgbClr val="5B6780"/>
                </a:solidFill>
                <a:latin typeface="Aptos"/>
              </a:rPr>
              <a:t>Le projet peut ?voluer vers une plateforme institutionnelle plus compl?te.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148840"/>
            <a:ext cx="777240" cy="50292"/>
          </a:xfrm>
          <a:prstGeom prst="roundRect">
            <a:avLst/>
          </a:prstGeom>
          <a:solidFill>
            <a:srgbClr val="EC48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2148840"/>
            <a:ext cx="777240" cy="50292"/>
          </a:xfrm>
          <a:prstGeom prst="roundRect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43891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50" b="0">
                <a:solidFill>
                  <a:srgbClr val="94A3B8"/>
                </a:solidFill>
                <a:latin typeface="Aptos"/>
              </a:rPr>
              <a:t>Portail de gestion des r?clamations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750" b="0">
                <a:solidFill>
                  <a:srgbClr val="94A3B8"/>
                </a:solidFill>
                <a:latin typeface="Aptos"/>
              </a:rPr>
              <a:t>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514600"/>
            <a:ext cx="2971800" cy="2103120"/>
          </a:xfrm>
          <a:prstGeom prst="roundRect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880360"/>
            <a:ext cx="2514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Court terme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493008"/>
            <a:ext cx="251460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Pi?ces jointes, photos, e-mail/SMS.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2514600"/>
            <a:ext cx="2971800" cy="2103120"/>
          </a:xfrm>
          <a:prstGeom prst="roundRect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2880360"/>
            <a:ext cx="2514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Moyen terme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493008"/>
            <a:ext cx="251460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Carte g?ographique, SLA, escalade.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514600"/>
            <a:ext cx="2971800" cy="2103120"/>
          </a:xfrm>
          <a:prstGeom prst="roundRect">
            <a:avLst/>
          </a:prstGeom>
          <a:solidFill>
            <a:srgbClr val="EC48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2880360"/>
            <a:ext cx="2514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Long terme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493008"/>
            <a:ext cx="251460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0">
                <a:solidFill>
                  <a:srgbClr val="F8FAFC"/>
                </a:solidFill>
                <a:latin typeface="Aptos"/>
              </a:rPr>
              <a:t>Application mobile et indicateurs publics anonymis?s.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5349240"/>
            <a:ext cx="932688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19072" y="5522976"/>
            <a:ext cx="8732520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1">
                <a:solidFill>
                  <a:srgbClr val="5B6780"/>
                </a:solidFill>
                <a:latin typeface="Aptos"/>
              </a:rPr>
              <a:t>Avant production: HTTPS, sauvegardes automatiques, supervision, confidentialit? et tests de charge.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005840"/>
            <a:ext cx="4663440" cy="4663440"/>
          </a:xfrm>
          <a:prstGeom prst="ellipse">
            <a:avLst/>
          </a:prstGeom>
          <a:solidFill>
            <a:srgbClr val="7C3A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480560"/>
            <a:ext cx="3657600" cy="3657600"/>
          </a:xfrm>
          <a:prstGeom prst="ellipse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4389120"/>
            <a:ext cx="3840480" cy="3840480"/>
          </a:xfrm>
          <a:prstGeom prst="ellipse">
            <a:avLst/>
          </a:prstGeom>
          <a:solidFill>
            <a:srgbClr val="EC48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685800"/>
            <a:ext cx="530352" cy="530352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804672"/>
            <a:ext cx="53035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Aptos"/>
              </a:rPr>
              <a:t>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822960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FFFFFF"/>
                </a:solidFill>
                <a:latin typeface="Aptos"/>
              </a:rPr>
              <a:t>Commune d'Ahfir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81328"/>
            <a:ext cx="2926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C4B5FD"/>
                </a:solidFill>
                <a:latin typeface="Aptos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685800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300" b="1">
                <a:solidFill>
                  <a:srgbClr val="FFFFFF"/>
                </a:solidFill>
                <a:latin typeface="Aptos"/>
              </a:rPr>
              <a:t>Une plateforme moderne
pour une commune plus proche
de ses citoyens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66294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50" b="0">
                <a:solidFill>
                  <a:srgbClr val="E2E8F0"/>
                </a:solidFill>
                <a:latin typeface="Aptos"/>
              </a:rPr>
              <a:t>Le portail de gestion des r?clamations permet de recevoir, traiter, suivre et analyser les plaintes citoyennes avec transparence et efficacit?.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074920"/>
            <a:ext cx="960120" cy="292608"/>
          </a:xfrm>
          <a:prstGeom prst="roundRect">
            <a:avLst/>
          </a:prstGeom>
          <a:solidFill>
            <a:srgbClr val="F5F3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152644"/>
            <a:ext cx="86868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70" b="1">
                <a:solidFill>
                  <a:srgbClr val="7C3AED"/>
                </a:solidFill>
                <a:latin typeface="Aptos"/>
              </a:rPr>
              <a:t>Clair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84831" y="5074920"/>
            <a:ext cx="960120" cy="292608"/>
          </a:xfrm>
          <a:prstGeom prst="roundRect">
            <a:avLst/>
          </a:prstGeom>
          <a:solidFill>
            <a:srgbClr val="EFF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30551" y="5152644"/>
            <a:ext cx="86868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70" b="1">
                <a:solidFill>
                  <a:srgbClr val="7C3AED"/>
                </a:solidFill>
                <a:latin typeface="Aptos"/>
              </a:rPr>
              <a:t>S?curis?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6703" y="5074920"/>
            <a:ext cx="960120" cy="292608"/>
          </a:xfrm>
          <a:prstGeom prst="roundRect">
            <a:avLst/>
          </a:prstGeom>
          <a:solidFill>
            <a:srgbClr val="ECFD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92423" y="5152644"/>
            <a:ext cx="86868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70" b="1">
                <a:solidFill>
                  <a:srgbClr val="7C3AED"/>
                </a:solidFill>
                <a:latin typeface="Aptos"/>
              </a:rPr>
              <a:t>?volutif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08576" y="5074920"/>
            <a:ext cx="960120" cy="292608"/>
          </a:xfrm>
          <a:prstGeom prst="roundRect">
            <a:avLst/>
          </a:prstGeom>
          <a:solidFill>
            <a:srgbClr val="FDF2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54296" y="5152644"/>
            <a:ext cx="868680" cy="82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70" b="1">
                <a:solidFill>
                  <a:srgbClr val="7C3AED"/>
                </a:solidFill>
                <a:latin typeface="Aptos"/>
              </a:rPr>
              <a:t>Professionnel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99632"/>
            <a:ext cx="47548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0">
                <a:solidFill>
                  <a:srgbClr val="CBD5E1"/>
                </a:solidFill>
                <a:latin typeface="Aptos"/>
              </a:rPr>
              <a:t>Commune d'Ahfir ? Projet Laravel / MySQL ?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