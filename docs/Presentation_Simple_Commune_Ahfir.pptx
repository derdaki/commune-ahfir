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-365760"/>
            <a:ext cx="4572000" cy="7498079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3840480"/>
            <a:ext cx="3108960" cy="3108960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6D28D9"/>
                </a:solidFill>
                <a:latin typeface="Aptos"/>
              </a:rPr>
              <a:t>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Commune d'Ahfir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114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FDBFE"/>
                </a:solidFill>
                <a:latin typeface="Aptos"/>
              </a:rPr>
              <a:t>Pr?sentation simple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6692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Portail de gestion
des r?clamations
Commune d?Ahfir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669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Objectif, fonctionnement, interfaces, technologies et codes essentiels.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54864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CBD5E1"/>
                </a:solidFill>
                <a:latin typeface="Aptos"/>
              </a:rPr>
              <a:t>Laravel ? MySQL ? XAMPP ? MVC ? Bootstrap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1. Introduction et 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Pourquoi ce projet a ?t? cr??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669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64748B"/>
                </a:solidFill>
                <a:latin typeface="Aptos"/>
              </a:rPr>
              <a:t>Le projet r?pond au besoin de moderniser la gestion des plaintes et r?clamations des citoyens.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447288"/>
            <a:ext cx="347472" cy="347472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7" y="344728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Probl?me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9592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Les r?clamations peuvent ?tre difficiles ? suivre avec une gestion manuelle ou dispers?e.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2461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3447288"/>
            <a:ext cx="347472" cy="34747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344728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9592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Une plateforme web qui centralise les dossiers et garde un historique complet.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2461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09559" y="3447288"/>
            <a:ext cx="347472" cy="347472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44728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Objectif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99592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Am?liorer la transparence, la rapidit? et la qualit? du service public.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2. Les missions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t?ches principales r?alis?es par l?application.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Permettre aux citoyens de d?poser une r?clamation en ligne.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Suivre l??tat de chaque dossier : nouvelle, en cours, r?solue ou rejet?e.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Attribuer les r?clamations aux services et employ?s concern?s.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Garder un historique complet des actions.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Informer le citoyen avec des notifications.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Afficher des statistiques et g?n?rer des rapports PDF / Excel.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50749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2148840"/>
            <a:ext cx="4892040" cy="30575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92824" y="5394960"/>
            <a:ext cx="48006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Tableau de bord de l?application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3. Les r?les des utilisateurs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Chaque utilisateur a des permissions diff?rentes.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7744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578608"/>
            <a:ext cx="347472" cy="347472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2578608"/>
            <a:ext cx="2423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Citoyen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27248"/>
            <a:ext cx="27889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Il cr?e un compte, d?pose une r?clamation, suit son ?tat et re?oit les notifications.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37744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578608"/>
            <a:ext cx="347472" cy="34747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578608"/>
            <a:ext cx="2423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Employ?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127248"/>
            <a:ext cx="27889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Il consulte les r?clamations, traite les dossiers, change les statuts et ajoute des commentaires.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37744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59" y="2578608"/>
            <a:ext cx="347472" cy="34747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2578608"/>
            <a:ext cx="2423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Administrateur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27248"/>
            <a:ext cx="27889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Il g?re les utilisateurs, les services, les employ?s, les rapports et toute l?application.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9875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Aptos"/>
              </a:rPr>
              <a:t>Cette s?paration prot?ge les donn?es et rend le travail plus organis?.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4. Comment fonctionne une r?clamation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Cycle simple du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23160"/>
            <a:ext cx="1874519" cy="1325880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15184"/>
            <a:ext cx="3657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9260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D?p?t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Le citoyen remplit le formulaire.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07792"/>
            <a:ext cx="2743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423160"/>
            <a:ext cx="1874519" cy="132588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615184"/>
            <a:ext cx="3657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29260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46120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Laravel v?rifie les donn?es.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907792"/>
            <a:ext cx="2743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2423160"/>
            <a:ext cx="1874519" cy="13258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615184"/>
            <a:ext cx="3657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9260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Traitement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246120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Un employ? met ? jour le statut.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907792"/>
            <a:ext cx="2743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423160"/>
            <a:ext cx="1874519" cy="1325880"/>
          </a:xfrm>
          <a:prstGeom prst="roundRect">
            <a:avLst/>
          </a:prstGeom>
          <a:solidFill>
            <a:srgbClr val="EA58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615184"/>
            <a:ext cx="3657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9260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246120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Le citoyen est inform?.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907792"/>
            <a:ext cx="2743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6D28D9"/>
                </a:solidFill>
                <a:latin typeface="Aptos"/>
              </a:rPr>
              <a:t>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2423160"/>
            <a:ext cx="1874519" cy="1325880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2615184"/>
            <a:ext cx="3657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29260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Cl?ture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246120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Le dossier devient r?solu ou rejet?.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61772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omplai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709159"/>
            <a:ext cx="4937759" cy="9784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14983" y="5760720"/>
            <a:ext cx="484632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Formulaire de r?clamation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617720"/>
            <a:ext cx="4754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709159"/>
            <a:ext cx="4572000" cy="9784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47104" y="5760720"/>
            <a:ext cx="448056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Notifications citoyennes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5. Les interfaces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pages importantes ? montrer pendant la d?monstration.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5166359" cy="1527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104" y="3703320"/>
            <a:ext cx="507492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Liste des r?clamations avec filtres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1168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mplai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03120"/>
            <a:ext cx="4983480" cy="1527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01384" y="3703320"/>
            <a:ext cx="489204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D?tail d?une r?clamation et historique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400"/>
            <a:ext cx="5349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laint-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34840"/>
            <a:ext cx="5166359" cy="11612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" y="5669280"/>
            <a:ext cx="507492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Formulaire de d?p?t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343400"/>
            <a:ext cx="5166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434840"/>
            <a:ext cx="4983480" cy="11612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01384" y="5669280"/>
            <a:ext cx="489204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Statistiques et tableau de bord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6. Technologies utilis?es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outils principaux du projet.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350008"/>
            <a:ext cx="347472" cy="34747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235000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Laravel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98648"/>
            <a:ext cx="2697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Framework PHP utilis? pour organiser le projet.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4884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350008"/>
            <a:ext cx="347472" cy="347472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7" y="235000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MySQL / XAMPP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98648"/>
            <a:ext cx="2697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Base de donn?es locale pour stocker les informations.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14884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19" y="2350008"/>
            <a:ext cx="347472" cy="34747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35000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Blade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98648"/>
            <a:ext cx="2697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Moteur de templates pour les vues HTML.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3995928"/>
            <a:ext cx="347472" cy="347472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5607" y="39959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Bootstrap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44568"/>
            <a:ext cx="2697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Design responsive et composants visuels.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7947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3995928"/>
            <a:ext cx="347472" cy="347472"/>
          </a:xfrm>
          <a:prstGeom prst="roundRect">
            <a:avLst/>
          </a:prstGeom>
          <a:solidFill>
            <a:srgbClr val="EA58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7" y="39959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Eloquent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544568"/>
            <a:ext cx="2697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ORM Laravel pour g?rer les relations avec la base.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7947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75319" y="3995928"/>
            <a:ext cx="347472" cy="34747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39959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Dompdf / Excel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544568"/>
            <a:ext cx="2697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G?n?ration des rapports PDF et Excel.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7. Architecture 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Laravel organise le code en trois parties.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2316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624328"/>
            <a:ext cx="347472" cy="347472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26243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72968"/>
            <a:ext cx="2697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Il repr?sente les donn?es et les relations avec la base. Exemple : Complaint, Citizen, Employee.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42316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624328"/>
            <a:ext cx="347472" cy="34747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6243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172968"/>
            <a:ext cx="2697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C?est l?interface affich?e ? l?utilisateur. Exemple : fichiers Blade.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423160"/>
            <a:ext cx="3154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59" y="2624328"/>
            <a:ext cx="347472" cy="34747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26243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72968"/>
            <a:ext cx="2697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Il re?oit les requ?tes, valide les donn?es et appelle les mod?les et vues.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Aptos"/>
              </a:rPr>
              <a:t>MVC rend le projet plus propre, plus facile ? comprendre et plus simple ? d?velopper.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8. Les fichiers de code importants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fichiers ? expliquer pendant la pr?sentation.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routes/web.php : d?finit les pages et les liens de l?application.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AuthController.php : g?re connexion, inscription et d?connexion.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ComplaintController.php : g?re la cr?ation, recherche, traitement et suivi des r?clamations.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Complaint.php : mod?le Eloquent avec les relations.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Migrations : cr?ent les tables MySQL.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Blade views : affichent les pages de l?interface.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240280"/>
            <a:ext cx="4800600" cy="219456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04872"/>
            <a:ext cx="43434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Exemple de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34340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Route::resource('complaints', ComplaintController::class);
// cr?e automatiquement :
// index, create, store, show, edit, update, destroy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617720"/>
            <a:ext cx="4800600" cy="14173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782312"/>
            <a:ext cx="43434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Exemple de 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120640"/>
            <a:ext cx="4343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public function citizen() {
    return $this-&gt;belongsTo(Citizen::class);
}
public function histories() {
    return $this-&gt;hasMany(ComplaintHistory::class);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9. Exemple : cr?ation d?une r?clamation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 code principal dans ComplaintController@store.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852160" cy="36576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13432"/>
            <a:ext cx="53949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ComplaintController@store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5394960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$data = $this-&gt;validated($request);
$data['reference'] = 'REC-'.now()-&gt;format('Ym').'-'.Str::upper(Str::random(6));
$complaint = Complaint::create($data);
$this-&gt;history($complaint, 'created', null, 'new', ...);
$this-&gt;notify($complaint, ...);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46888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Le formulaire est valid?.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Une r?f?rence unique est cr??e.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La r?clamation est enregistr?e dans MySQL.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Une ligne historique est ajout?e.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Une notification est cr??e pour le citoyen.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10. Base de donn?es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tables principales du projet.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350008"/>
            <a:ext cx="347472" cy="34747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235000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98648"/>
            <a:ext cx="2697480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comptes et r?les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4884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350008"/>
            <a:ext cx="347472" cy="34747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7" y="235000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citizens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98648"/>
            <a:ext cx="2697480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informations citoyens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14884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19" y="2350008"/>
            <a:ext cx="347472" cy="347472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235000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complaints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98648"/>
            <a:ext cx="2697480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r?clamations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5760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3858768"/>
            <a:ext cx="347472" cy="347472"/>
          </a:xfrm>
          <a:prstGeom prst="roundRect">
            <a:avLst/>
          </a:prstGeom>
          <a:solidFill>
            <a:srgbClr val="EA58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35607" y="385876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complaint_histories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07408"/>
            <a:ext cx="2697480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historique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5760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3858768"/>
            <a:ext cx="347472" cy="347472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7" y="385876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407408"/>
            <a:ext cx="2697480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messages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65760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75319" y="3858768"/>
            <a:ext cx="347472" cy="34747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385876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services / employees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07408"/>
            <a:ext cx="2697480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services et agents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5303520"/>
            <a:ext cx="8503920" cy="8686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5468112"/>
            <a:ext cx="80467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93C5FD"/>
                </a:solidFill>
                <a:latin typeface="Aptos"/>
              </a:rPr>
              <a:t>Exemple 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806440"/>
            <a:ext cx="8046720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$table-&gt;string('reference')-&gt;unique();
$table-&gt;foreignId('citizen_id')-&gt;constrained();
$table-&gt;enum('status', ['new','processing','resolved','rejected']);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11. S?curit?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Les ?l?ments qui rendent l?application s?re.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487168"/>
            <a:ext cx="347472" cy="347472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7" y="248716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Authentification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3580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L?utilisateur doit se connecter pour acc?der au tableau de bord.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2860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2487168"/>
            <a:ext cx="347472" cy="34747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48716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R?les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3580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Chaque r?le a des acc?s limit?s selon ses responsabilit?s.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2860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59" y="2487168"/>
            <a:ext cx="347472" cy="347472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248716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3580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Tous les formulaires sont valid?s c?t? serveur.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25196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51760" y="4453128"/>
            <a:ext cx="347472" cy="347472"/>
          </a:xfrm>
          <a:prstGeom prst="roundRect">
            <a:avLst/>
          </a:prstGeom>
          <a:solidFill>
            <a:srgbClr val="EA580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44531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CSRF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500176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Laravel prot?ge les formulaires contre les requ?tes non autoris?es.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25196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0" y="4453128"/>
            <a:ext cx="347472" cy="347472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7" y="4453128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Password hash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001768"/>
            <a:ext cx="2697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Les mots de passe sont chiffr?s avant stockage.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12. Avantages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Pourquoi ce syst?me est utile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4663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532888"/>
            <a:ext cx="347472" cy="34747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2532888"/>
            <a:ext cx="3840479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Pour la commune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7"/>
            <a:ext cx="420624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Meilleure organisation, suivi des dossiers, statistiques, rapports, et coordination entre les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331720"/>
            <a:ext cx="4663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2532888"/>
            <a:ext cx="347472" cy="347472"/>
          </a:xfrm>
          <a:prstGeom prst="roundRect">
            <a:avLst/>
          </a:prstGeom>
          <a:solidFill>
            <a:srgbClr val="DB27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532888"/>
            <a:ext cx="3840479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Aptos"/>
              </a:rPr>
              <a:t>Pour les citoyens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81527"/>
            <a:ext cx="420624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64748B"/>
                </a:solidFill>
                <a:latin typeface="Aptos"/>
              </a:rPr>
              <a:t>D?p?t simple, suivi transparent, notifications et am?lioration de la relation avec l?administration.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49240"/>
            <a:ext cx="9692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Aptos"/>
              </a:rPr>
              <a:t>Le projet am?liore la confiance entre la commune et les citoyens.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F2937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75488"/>
            <a:ext cx="50292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51560"/>
            <a:ext cx="8778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F2937"/>
                </a:solidFill>
                <a:latin typeface="Aptos"/>
              </a:rPr>
              <a:t>13. D?veloppement futur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Comment am?liorer le projet plus tard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685800" cy="50292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993392"/>
            <a:ext cx="685800" cy="50292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Aptos"/>
              </a:rPr>
              <a:t>Gestion des r?clamations citoyennes - Commune d?Ahfir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Ajouter des pi?ces jointes : photos, documents, preuves.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Envoyer les notifications par e-mail ou SMS.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Ajouter une carte g?ographique des r?clamations.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Cr?er une application mobile pour les citoyens.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Ajouter des d?lais de traitement SLA.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Cr?er des statistiques avanc?es et rapports mensuels.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468880"/>
            <a:ext cx="4297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560320"/>
            <a:ext cx="4114800" cy="1572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8584" y="4206240"/>
            <a:ext cx="402336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4748B"/>
                </a:solidFill>
                <a:latin typeface="Aptos"/>
              </a:rPr>
              <a:t>Exemple : notifications ? am?liorer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-365760"/>
            <a:ext cx="4572000" cy="7498079"/>
          </a:xfrm>
          <a:prstGeom prst="roundRect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512064" cy="512064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66344"/>
            <a:ext cx="512064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6D28D9"/>
                </a:solidFill>
                <a:latin typeface="Aptos"/>
              </a:rPr>
              <a:t>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75488"/>
            <a:ext cx="2011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Commune d'Ahfir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23774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FDBFE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62179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Une application simple,
utile et ?volutive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64922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E2E8F0"/>
                </a:solidFill>
                <a:latin typeface="Aptos"/>
              </a:rPr>
              <a:t>Ce projet permet ? la Commune d?Ahfir de g?rer les r?clamations citoyennes de mani?re organis?e, s?curis?e et transparente.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6492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CBD5E1"/>
                </a:solidFill>
                <a:latin typeface="Aptos"/>
              </a:rPr>
              <a:t>Il utilise Laravel MVC, MySQL, Blade et Bootstrap pour offrir une solution claire et professionnelle.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2743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CBD5E1"/>
                </a:solidFill>
                <a:latin typeface="Aptos"/>
              </a:rPr>
              <a:t>Fin de pr?sentation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