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43"/>
          </a:solidFill>
          <a:ln>
            <a:solidFill>
              <a:srgbClr val="181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0" y="-365760"/>
            <a:ext cx="6035040" cy="7498079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3931920"/>
            <a:ext cx="3291840" cy="329184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530352" cy="53035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7C3AED"/>
                </a:solidFill>
              </a:rPr>
              <a:t>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498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Commune d'Ahfir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B5FD"/>
                </a:solidFill>
                <a:latin typeface="Segoe UI"/>
              </a:rPr>
              <a:t>Pr?sentation du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Segoe UI"/>
              </a:rPr>
              <a:t>Portail de gestion
des r?clamations
citoyennes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3308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2E8F0"/>
                </a:solidFill>
                <a:latin typeface="Segoe UI"/>
              </a:rPr>
              <a:t>Commune d'Ahfir ? Application Laravel /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36592"/>
            <a:ext cx="111556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09744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Segoe UI"/>
              </a:rPr>
              <a:t>Laravel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736592"/>
            <a:ext cx="1115568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4809744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Segoe UI"/>
              </a:rPr>
              <a:t>MySQL XAMPP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736592"/>
            <a:ext cx="1115568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809744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Segoe UI"/>
              </a:rPr>
              <a:t>Bootstrap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736592"/>
            <a:ext cx="1115568" cy="329184"/>
          </a:xfrm>
          <a:prstGeom prst="roundRect">
            <a:avLst/>
          </a:prstGeom>
          <a:solidFill>
            <a:srgbClr val="FDF2F8"/>
          </a:solidFill>
          <a:ln>
            <a:solidFill>
              <a:srgbClr val="FD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809744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Segoe UI"/>
              </a:rPr>
              <a:t>MVC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Segoe UI"/>
              </a:rPr>
              <a:t>Documentation synth?tique, moderne et pr?te pour soutenance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Pr?sentation g?n?rale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4748B"/>
                </a:solidFill>
                <a:latin typeface="Segoe UI"/>
              </a:rPr>
              <a:t>Le projet est une application web destin?e ? centraliser, suivre et traiter les r?clamations des citoyens de la Commune d'Ahfir.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3566160" cy="13258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" y="3364992"/>
            <a:ext cx="411480" cy="41148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35607" y="331927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Probl?me trait?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Les r?clamations peuvent ?tre dispers?es, difficiles ? suivre et peu visibles pour le citoyen.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15468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3154680"/>
            <a:ext cx="3566160" cy="13258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27448" y="3364992"/>
            <a:ext cx="411480" cy="4114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331927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Solution propos?e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Un portail s?curis? avec r?f?rence unique, historique complet et notifications automatiques.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154680"/>
            <a:ext cx="2788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3154680"/>
            <a:ext cx="2788920" cy="13258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67928" y="3364992"/>
            <a:ext cx="41148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3319272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Valeur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9319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Plus de transparence, de rapidit? et de pilotage pour la commune.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051560"/>
            <a:ext cx="4160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7" y="1161288"/>
            <a:ext cx="3941063" cy="18287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99831" y="3063239"/>
            <a:ext cx="3831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Segoe UI"/>
              </a:rPr>
              <a:t>Vue r?elle du tableau de bord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Objectifs du syst?me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40280"/>
            <a:ext cx="2423160" cy="18288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2450592"/>
            <a:ext cx="411480" cy="4114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24048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Centraliser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Regrouper toutes les plaintes dans un r?f?rentiel unique.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2240280"/>
            <a:ext cx="2423160" cy="18288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75887" y="2450592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24048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Acc?l?rer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01752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Attribuer rapidement chaque dossier au service concern?.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240280"/>
            <a:ext cx="2423160" cy="18288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64807" y="2450592"/>
            <a:ext cx="411480" cy="41148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24048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Informer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Notifier le citoyen ? chaque ?volution importante.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224028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52559" y="2240280"/>
            <a:ext cx="2423160" cy="18288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53728" y="2450592"/>
            <a:ext cx="41148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7" y="24048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Piloter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3017520"/>
            <a:ext cx="1965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Mesurer les volumes, statuts, priorit?s et performances.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892040"/>
            <a:ext cx="9875520" cy="530352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50566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Segoe UI"/>
              </a:rPr>
              <a:t>Cycle m?tier : Nouvelle  ?  En cours de traitement  ?  R?solue / Rejet?e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Fonctionnalit?s principales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D?p?t de r?clamations par les citoyens</a:t>
            </a:r>
          </a:p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Suivi des statuts : nouvelle, en traitement, r?solue, rejet?e</a:t>
            </a:r>
          </a:p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Attribution aux services communaux et employ?s</a:t>
            </a:r>
          </a:p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Historique complet des actions effectu?es</a:t>
            </a:r>
          </a:p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Notifications automatiques</a:t>
            </a:r>
          </a:p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Recherche avanc?e et filtres</a:t>
            </a:r>
          </a:p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Tableau de bord avec statistiques</a:t>
            </a:r>
          </a:p>
          <a:p>
            <a:pPr>
              <a:spcAft>
                <a:spcPts val="700"/>
              </a:spcAft>
              <a:defRPr sz="1500">
                <a:solidFill>
                  <a:srgbClr val="181F43"/>
                </a:solidFill>
                <a:latin typeface="Segoe UI"/>
              </a:defRPr>
            </a:pPr>
            <a:r>
              <a:t>Export PDF et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965960"/>
            <a:ext cx="58521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075688"/>
            <a:ext cx="5632704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71031" y="5897880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Segoe UI"/>
              </a:rPr>
              <a:t>Liste des r?clamations avec filtres et exports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R?les des utilisateurs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3429000" cy="28346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450592"/>
            <a:ext cx="411480" cy="4114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Administrateur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G?re les utilisateurs, r?les, services, employ?s, rapports et l?ensemble des r?clamations.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24028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240280"/>
            <a:ext cx="3429000" cy="28346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6007" y="2450592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Employ?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17520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Consulte, qualifie, traite et met ? jour les dossiers affect?s aux services communaux.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24028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2240280"/>
            <a:ext cx="3429000" cy="28346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93608" y="2450592"/>
            <a:ext cx="411480" cy="41148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Citoyen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17520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Cr?e un compte, d?pose une r?clamation, suit son ?tat et re?oit les notifications.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Segoe UI"/>
              </a:rPr>
              <a:t>Chaque r?le voit uniquement les actions n?cessaires ? sa mission, ce qui am?liore la s?curit? et l?exp?rience utilisateur.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Comment fonctionne l?application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423160" cy="19202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Connexion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F0F9FF"/>
                </a:solidFill>
                <a:latin typeface="Segoe UI"/>
              </a:rPr>
              <a:t>L?utilisateur s?authentifie via son compte s?curis?.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926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7C3AED"/>
                </a:solidFill>
                <a:latin typeface="Segoe UI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0168" y="2331720"/>
            <a:ext cx="2423160" cy="19202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4871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88950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D?p?t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33756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F0F9FF"/>
                </a:solidFill>
                <a:latin typeface="Segoe UI"/>
              </a:rPr>
              <a:t>Le citoyen cr?e une r?clamation avec cat?gorie, sujet et description.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926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7C3AED"/>
                </a:solidFill>
                <a:latin typeface="Segoe UI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3096" y="2331720"/>
            <a:ext cx="2423160" cy="19202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24871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88950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Traitement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33756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F0F9FF"/>
                </a:solidFill>
                <a:latin typeface="Segoe UI"/>
              </a:rPr>
              <a:t>Un employ? ou administrateur affecte et met ? jour le statut.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2926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7C3AED"/>
                </a:solidFill>
                <a:latin typeface="Segoe UI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6024" y="2331720"/>
            <a:ext cx="2423160" cy="19202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24871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88950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Notification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333756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F0F9FF"/>
                </a:solidFill>
                <a:latin typeface="Segoe UI"/>
              </a:rPr>
              <a:t>Le citoyen re?oit les changements et consulte l?historique.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7091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omplai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4818888"/>
            <a:ext cx="4992624" cy="1188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99032" y="6080760"/>
            <a:ext cx="4882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Segoe UI"/>
              </a:rPr>
              <a:t>D?tail d?une r?clamation et historique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709160"/>
            <a:ext cx="4480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4818888"/>
            <a:ext cx="4261104" cy="11887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85431" y="6080760"/>
            <a:ext cx="4151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Segoe UI"/>
              </a:rPr>
              <a:t>Notifications citoyennes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Architecture technique et code utilis?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1F43"/>
                </a:solidFill>
                <a:latin typeface="Segoe UI"/>
              </a:rPr>
              <a:t>Architecture MVC Laravel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F43"/>
                </a:solidFill>
                <a:latin typeface="Segoe UI"/>
              </a:defRPr>
            </a:pPr>
            <a:r>
              <a:t>Routes web : d?finition des URLs et middlewares</a:t>
            </a:r>
          </a:p>
          <a:p>
            <a:pPr>
              <a:spcAft>
                <a:spcPts val="700"/>
              </a:spcAft>
              <a:defRPr sz="1300">
                <a:solidFill>
                  <a:srgbClr val="181F43"/>
                </a:solidFill>
                <a:latin typeface="Segoe UI"/>
              </a:defRPr>
            </a:pPr>
            <a:r>
              <a:t>Contr?leurs : logique m?tier et validation</a:t>
            </a:r>
          </a:p>
          <a:p>
            <a:pPr>
              <a:spcAft>
                <a:spcPts val="700"/>
              </a:spcAft>
              <a:defRPr sz="1300">
                <a:solidFill>
                  <a:srgbClr val="181F43"/>
                </a:solidFill>
                <a:latin typeface="Segoe UI"/>
              </a:defRPr>
            </a:pPr>
            <a:r>
              <a:t>Mod?les Eloquent : relations et acc?s aux donn?es</a:t>
            </a:r>
          </a:p>
          <a:p>
            <a:pPr>
              <a:spcAft>
                <a:spcPts val="700"/>
              </a:spcAft>
              <a:defRPr sz="1300">
                <a:solidFill>
                  <a:srgbClr val="181F43"/>
                </a:solidFill>
                <a:latin typeface="Segoe UI"/>
              </a:defRPr>
            </a:pPr>
            <a:r>
              <a:t>Vues Blade : interface responsive et multilingue</a:t>
            </a:r>
          </a:p>
          <a:p>
            <a:pPr>
              <a:spcAft>
                <a:spcPts val="700"/>
              </a:spcAft>
              <a:defRPr sz="1300">
                <a:solidFill>
                  <a:srgbClr val="181F43"/>
                </a:solidFill>
                <a:latin typeface="Segoe UI"/>
              </a:defRPr>
            </a:pPr>
            <a:r>
              <a:t>Migrations : cr?ation structur?e de la base 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993392"/>
            <a:ext cx="594360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331720"/>
            <a:ext cx="5440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Consolas"/>
              </a:rPr>
              <a:t>Route::resource('complaints', ComplaintController::class);
class Complaint extends Model {
  public function citizen() { return $this-&gt;belongsTo(Citizen::class); }
  public function histories() { return $this-&gt;hasMany(ComplaintHistory::class); }
}
Complaint::create($data);
CitizenNotification::create([...]);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Base de donn?es 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4748B"/>
                </a:solidFill>
                <a:latin typeface="Segoe UI"/>
              </a:rPr>
              <a:t>Les migrations Laravel cr?ent une base relationnelle coh?rente et ?volutive.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33375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85292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Segoe UI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2862072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Segoe UI"/>
              </a:rPr>
              <a:t>authentification, r?le, langue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33375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85292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Segoe UI"/>
              </a:rPr>
              <a:t>citizens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862072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Segoe UI"/>
              </a:rPr>
              <a:t>profil citoyen li? au compte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743200"/>
            <a:ext cx="33375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85292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Segoe UI"/>
              </a:rPr>
              <a:t>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2862072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Segoe UI"/>
              </a:rPr>
              <a:t>r?clamation, statut, priorit?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03320"/>
            <a:ext cx="33375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81304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Segoe UI"/>
              </a:rPr>
              <a:t>complaint_histories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0552" y="3822191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Segoe UI"/>
              </a:rPr>
              <a:t>historique complet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03320"/>
            <a:ext cx="33375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81304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Segoe UI"/>
              </a:rPr>
              <a:t>municipal_services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3822191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Segoe UI"/>
              </a:rPr>
              <a:t>services communaux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703320"/>
            <a:ext cx="33375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381304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Segoe UI"/>
              </a:rPr>
              <a:t>employees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3822191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Segoe UI"/>
              </a:rPr>
              <a:t>agents et affectations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663440"/>
            <a:ext cx="33375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77316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Segoe UI"/>
              </a:rP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0552" y="4782312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Segoe UI"/>
              </a:rPr>
              <a:t>messages aux citoyens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5513832"/>
            <a:ext cx="7772400" cy="411480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5641848"/>
            <a:ext cx="7178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Segoe UI"/>
              </a:rPr>
              <a:t>Contraintes relationnelles + index de filtre = coh?rence et recherche rapide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Interface et exp?rience utilisateur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4864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lai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167128"/>
            <a:ext cx="5266944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6035040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Segoe UI"/>
              </a:rPr>
              <a:t>Formulaire de d?p?t / traitement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1F43"/>
                </a:solidFill>
                <a:latin typeface="Segoe UI"/>
              </a:rPr>
              <a:t>Design moderne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434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1F43"/>
                </a:solidFill>
                <a:latin typeface="Segoe UI"/>
              </a:defRPr>
            </a:pPr>
            <a:r>
              <a:t>Palette vive et professionnelle</a:t>
            </a:r>
          </a:p>
          <a:p>
            <a:pPr>
              <a:spcAft>
                <a:spcPts val="700"/>
              </a:spcAft>
              <a:defRPr sz="1400">
                <a:solidFill>
                  <a:srgbClr val="181F43"/>
                </a:solidFill>
                <a:latin typeface="Segoe UI"/>
              </a:defRPr>
            </a:pPr>
            <a:r>
              <a:t>Cartes interactives et l?g?res animations</a:t>
            </a:r>
          </a:p>
          <a:p>
            <a:pPr>
              <a:spcAft>
                <a:spcPts val="700"/>
              </a:spcAft>
              <a:defRPr sz="1400">
                <a:solidFill>
                  <a:srgbClr val="181F43"/>
                </a:solidFill>
                <a:latin typeface="Segoe UI"/>
              </a:defRPr>
            </a:pPr>
            <a:r>
              <a:t>Interface responsive ordinateur, tablette et mobile</a:t>
            </a:r>
          </a:p>
          <a:p>
            <a:pPr>
              <a:spcAft>
                <a:spcPts val="700"/>
              </a:spcAft>
              <a:defRPr sz="1400">
                <a:solidFill>
                  <a:srgbClr val="181F43"/>
                </a:solidFill>
                <a:latin typeface="Segoe UI"/>
              </a:defRPr>
            </a:pPr>
            <a:r>
              <a:t>Support fran?ais, anglais et arabe</a:t>
            </a:r>
          </a:p>
          <a:p>
            <a:pPr>
              <a:spcAft>
                <a:spcPts val="700"/>
              </a:spcAft>
              <a:defRPr sz="1400">
                <a:solidFill>
                  <a:srgbClr val="181F43"/>
                </a:solidFill>
                <a:latin typeface="Segoe UI"/>
              </a:defRPr>
            </a:pPr>
            <a:r>
              <a:t>Mode RTL automatique pour l?arabe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5349240"/>
            <a:ext cx="4297680" cy="502920"/>
          </a:xfrm>
          <a:prstGeom prst="roundRect">
            <a:avLst/>
          </a:prstGeom>
          <a:solidFill>
            <a:srgbClr val="FDF2F8"/>
          </a:solidFill>
          <a:ln>
            <a:solidFill>
              <a:srgbClr val="FD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5513832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C4899"/>
                </a:solidFill>
                <a:latin typeface="Segoe UI"/>
              </a:rPr>
              <a:t>Objectif : rendre le suivi administratif clair, simple et agr?able.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Comment le projet a ?t? d?velopp?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84831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084831"/>
            <a:ext cx="3429000" cy="1874519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2295144"/>
            <a:ext cx="411480" cy="4114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22494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1. 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62072"/>
            <a:ext cx="2971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Identification des besoins : r?clamations, r?les, suivi, notifications, rapports.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084831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084831"/>
            <a:ext cx="3429000" cy="1874519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6007" y="2295144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2494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2. Mod?lisation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62072"/>
            <a:ext cx="2971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Cr?ation des tables, relations Eloquent, statuts et cat?gories.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084831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2084831"/>
            <a:ext cx="3429000" cy="1874519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93608" y="2295144"/>
            <a:ext cx="41148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22494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3. Impl?mentation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62072"/>
            <a:ext cx="2971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Routes, contr?leurs, vues Blade, validation, authentification et exports.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443484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06040" y="4434840"/>
            <a:ext cx="3429000" cy="14630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07208" y="4645152"/>
            <a:ext cx="411480" cy="4114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45994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4.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212079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V?rification des migrations, de l?authentification, du d?p?t et des acc?s.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43484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4434840"/>
            <a:ext cx="3429000" cy="14630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64807" y="4645152"/>
            <a:ext cx="411480" cy="41148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3448" y="45994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F43"/>
                </a:solidFill>
                <a:latin typeface="Segoe UI"/>
              </a:rPr>
              <a:t>5. Publication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12079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48B"/>
                </a:solidFill>
                <a:latin typeface="Segoe UI"/>
              </a:rPr>
              <a:t>Versionnement Git, d?p?t priv? GitHub et documentation PDF/PPT.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93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1F43"/>
                </a:solidFill>
                <a:latin typeface="Segoe UI"/>
              </a:rPr>
              <a:t>Commune d'Ahfir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502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F43"/>
                </a:solidFill>
                <a:latin typeface="Segoe UI"/>
              </a:rPr>
              <a:t>?volutions futures propos?es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777240" cy="640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777240" cy="6400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Segoe UI"/>
              </a:rPr>
              <a:t>Projet Laravel ? Gestion des r?clamations ?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423160"/>
            <a:ext cx="2971800" cy="21488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432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Court terme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3375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Pi?ces jointes, photos et notifications e-mail/SMS.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423160"/>
            <a:ext cx="2971800" cy="21488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7432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Moyen terme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3375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Carte g?ographique des r?clamations et d?lais SLA.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423160"/>
            <a:ext cx="2971800" cy="214884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7432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Long terme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375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Portail public d?indicateurs anonymis?s et application mobile.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Avant mise en production : HTTPS, sauvegardes automatiques, journalisation, politique de confidentialit? et tests de charge.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43"/>
          </a:solidFill>
          <a:ln>
            <a:solidFill>
              <a:srgbClr val="181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4206240"/>
            <a:ext cx="4572000" cy="32004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0" y="-548640"/>
            <a:ext cx="4297680" cy="329184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94360"/>
            <a:ext cx="530352" cy="53035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7C3AED"/>
                </a:solidFill>
              </a:rPr>
              <a:t>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04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Commune d'Ahfir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B5FD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Une commune ? l??coute,
un traitement transparent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2E8F0"/>
                </a:solidFill>
                <a:latin typeface="Segoe UI"/>
              </a:rPr>
              <a:t>Ce portail transforme chaque r?clamation en dossier tra?able, mesurable et utile pour am?liorer la qualit? du service public.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B5FD"/>
                </a:solidFill>
                <a:latin typeface="Segoe UI"/>
              </a:rPr>
              <a:t>Projet pr?t pour pr?sentation, d?monstration locale et am?lioration future.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722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Segoe UI"/>
              </a:rPr>
              <a:t>Commune d'Ahfir ? Laravel ? MySQL ? XAMPP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